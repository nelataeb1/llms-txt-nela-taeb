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framing before I open anything: the take-home asked for a tool that generates an</a:t>
            </a:r>
          </a:p>
          <a:p>
            <a:r>
              <a:t>        llms.txt file for a domain and keeps it current. What I built is a deployed Next.js app</a:t>
            </a:r>
          </a:p>
          <a:p>
            <a:r>
              <a:t>        that takes a URL, crawls the site, and produces a spec-valid llms.txt, then monitors that</a:t>
            </a:r>
          </a:p>
          <a:p>
            <a:r>
              <a:t>        site and re-publishes the file when the content actually changes.</a:t>
            </a:r>
          </a:p>
          <a:p/>
          <a:p>
            <a:r>
              <a:t>        I also went past the spec in two places, because a file that is merely valid is not</a:t>
            </a:r>
          </a:p>
          <a:p>
            <a:r>
              <a:t>        necessarily useful: an AI-readiness audit that grades how the domain looks to real answer</a:t>
            </a:r>
          </a:p>
          <a:p>
            <a:r>
              <a:t>        engine crawlers, and a retrieval eval that measures whether the generated index can</a:t>
            </a:r>
          </a:p>
          <a:p>
            <a:r>
              <a:t>        actually route a question to the right page.</a:t>
            </a:r>
          </a:p>
          <a:p/>
          <a:p>
            <a:r>
              <a:t>        The app is live at the URL on this slide — everything I show is running in production on</a:t>
            </a:r>
          </a:p>
          <a:p>
            <a:r>
              <a:t>        Vercel with Neon Postgres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Structure: I'll spend the first few minutes on why llms.txt matters and what the spec</a:t>
            </a:r>
          </a:p>
          <a:p>
            <a:r>
              <a:t>        actually requires, then show the product and the pipeline end to end. After the demo I go</a:t>
            </a:r>
          </a:p>
          <a:p>
            <a:r>
              <a:t>        component by component — crawl, extract, rank, group, render, validate, monitor, persist —</a:t>
            </a:r>
          </a:p>
          <a:p>
            <a:r>
              <a:t>        with the trade-off I made in each one. I'll close on what I would build next if this were</a:t>
            </a:r>
          </a:p>
          <a:p>
            <a:r>
              <a:t>        a real product rather than a take-home.</a:t>
            </a:r>
          </a:p>
          <a:p/>
          <a:p>
            <a:r>
              <a:t>        If you want to interrupt at any point, please do — the deep-dive slides are independent,</a:t>
            </a:r>
          </a:p>
          <a:p>
            <a:r>
              <a:t>        so we can spend the time wherever it's most useful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reason this file exists at all: for a growing share of queries, nobody sees a results</a:t>
            </a:r>
          </a:p>
          <a:p>
            <a:r>
              <a:t>        page any more. ChatGPT, Perplexity and Google's AI surfaces read a handful of sources and</a:t>
            </a:r>
          </a:p>
          <a:p>
            <a:r>
              <a:t>        synthesise an answer, and if the model can't cheaply read your site, your brand is simply</a:t>
            </a:r>
          </a:p>
          <a:p>
            <a:r>
              <a:t>        absent from that answer. That's exactly the visibility problem Profound sells into.</a:t>
            </a:r>
          </a:p>
          <a:p/>
          <a:p>
            <a:r>
              <a:t>        Why is a website hard to read? A marketing page is mostly navigation, cookie banners,</a:t>
            </a:r>
          </a:p>
          <a:p>
            <a:r>
              <a:t>        tracking scripts and client-rendered shells. An agent with a limited context window burns</a:t>
            </a:r>
          </a:p>
          <a:p>
            <a:r>
              <a:t>        most of it on markup before it reaches the paragraph that mattered — and on a</a:t>
            </a:r>
          </a:p>
          <a:p>
            <a:r>
              <a:t>        client-rendered SPA it may extract nothing at all.</a:t>
            </a:r>
          </a:p>
          <a:p/>
          <a:p>
            <a:r>
              <a:t>        llms.txt is the proposed fix, and the analogy is robots.txt: one file at a well-known path</a:t>
            </a:r>
          </a:p>
          <a:p>
            <a:r>
              <a:t>        that tells an agent where to look. The difference is that robots.txt is exclusion and</a:t>
            </a:r>
          </a:p>
          <a:p>
            <a:r>
              <a:t>        llms.txt is curation — you have to choose the right pages and describe them well.</a:t>
            </a:r>
          </a:p>
          <a:p/>
          <a:p>
            <a:r>
              <a:t>        And that curation is the actual work. A docs site with a few hundred pages needs someone</a:t>
            </a:r>
          </a:p>
          <a:p>
            <a:r>
              <a:t>        to pick which ones matter, write a one-line summary for each, and then keep that in sync</a:t>
            </a:r>
          </a:p>
          <a:p>
            <a:r>
              <a:t>        every time docs, pricing or product pages ship. That's what I automated.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spec at llmstxt.org is deliberately small, which is why it's easy to produce something</a:t>
            </a:r>
          </a:p>
          <a:p>
            <a:r>
              <a:t>        that looks right and is actually invalid. The shape: exactly one H1 with the site name; an</a:t>
            </a:r>
          </a:p>
          <a:p>
            <a:r>
              <a:t>        optional blockquote that summarises the site; then free-form detail; then H2 sections,</a:t>
            </a:r>
          </a:p>
          <a:p>
            <a:r>
              <a:t>        each of which is a markdown list of links, each link optionally followed by a colon and a</a:t>
            </a:r>
          </a:p>
          <a:p>
            <a:r>
              <a:t>        short note.</a:t>
            </a:r>
          </a:p>
          <a:p/>
          <a:p>
            <a:r>
              <a:t>        Two details drive most of my design. First, the notes matter more than the links — the</a:t>
            </a:r>
          </a:p>
          <a:p>
            <a:r>
              <a:t>        note is the only signal an agent has for choosing between two plausible pages, so a bad</a:t>
            </a:r>
          </a:p>
          <a:p>
            <a:r>
              <a:t>        description is worse than a missing page. Second, the trailing "Optional" section is the</a:t>
            </a:r>
          </a:p>
          <a:p>
            <a:r>
              <a:t>        spec's explicit escape hatch: anything an agent can safely skip when it's short on context</a:t>
            </a:r>
          </a:p>
          <a:p>
            <a:r>
              <a:t>        goes there. I use it for legal pages and for the overflow beyond my link budget.</a:t>
            </a:r>
          </a:p>
          <a:p/>
          <a:p>
            <a:r>
              <a:t>        There's also llms-full.txt, which inlines page content rather than linking to it. I</a:t>
            </a:r>
          </a:p>
          <a:p>
            <a:r>
              <a:t>        generate it on request, but it's a different trade: complete, but far too big for most</a:t>
            </a:r>
          </a:p>
          <a:p>
            <a:r>
              <a:t>        context windows.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product surface is deliberately one input. You paste a domain, and within about a</a:t>
            </a:r>
          </a:p>
          <a:p>
            <a:r>
              <a:t>        minute you have a spec-valid llms.txt, a validation report next to it, and — if you tick</a:t>
            </a:r>
          </a:p>
          <a:p>
            <a:r>
              <a:t>        monitoring — a permanent URL that always serves the current version of that file.</a:t>
            </a:r>
          </a:p>
          <a:p/>
          <a:p>
            <a:r>
              <a:t>        Four verbs. Generate is the pipeline I'll show next. Validate re-parses the rendered text</a:t>
            </a:r>
          </a:p>
          <a:p>
            <a:r>
              <a:t>        and grades it, so the score describes the exact bytes a consumer would download rather</a:t>
            </a:r>
          </a:p>
          <a:p>
            <a:r>
              <a:t>        than the builder's intentions. Monitor re-crawls on a daily cron and diffs page by page.</a:t>
            </a:r>
          </a:p>
          <a:p>
            <a:r>
              <a:t>        Serve exposes the latest snapshot at a stable URL, as text/plain, so a customer can proxy</a:t>
            </a:r>
          </a:p>
          <a:p>
            <a:r>
              <a:t>        it from their own domain without redeploying anything.</a:t>
            </a:r>
          </a:p>
          <a:p/>
          <a:p>
            <a:r>
              <a:t>        Worth saying explicitly: no database and no API key are required to run it. Without</a:t>
            </a:r>
          </a:p>
          <a:p>
            <a:r>
              <a:t>        DATABASE_URL it falls back to an in-memory store, and without an OpenAI key the</a:t>
            </a:r>
          </a:p>
          <a:p>
            <a:r>
              <a:t>        heuristics produce the whole file. The LLM only improves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to right: a URL comes in; the crawler resolves robots.txt and sitemaps and collects</a:t>
            </a:r>
          </a:p>
          <a:p>
            <a:r>
              <a:t>        pages; extraction pulls title, description, canonical, links and a content hash out of</a:t>
            </a:r>
          </a:p>
          <a:p>
            <a:r>
              <a:t>        each one; classification assigns a page kind and a score; grouping turns the ranked list</a:t>
            </a:r>
          </a:p>
          <a:p>
            <a:r>
              <a:t>        into sections under a link budget; rendering emits the markdown; validation re-parses it.</a:t>
            </a:r>
          </a:p>
          <a:p/>
          <a:p>
            <a:r>
              <a:t>        The important property is the one written at the bottom: each stage is a pure function</a:t>
            </a:r>
          </a:p>
          <a:p>
            <a:r>
              <a:t>        from serializable state to serializable state. That isn't architectural purity for its</a:t>
            </a:r>
          </a:p>
          <a:p>
            <a:r>
              <a:t>        own sake — it's what makes the crawl survive a serverless platform. Any stage can stop</a:t>
            </a:r>
          </a:p>
          <a:p>
            <a:r>
              <a:t>        mid-way, be written to Postgres, and picked up by a different Lambda invocation.</a:t>
            </a:r>
          </a:p>
          <a:p/>
          <a:p>
            <a:r>
              <a:t>        LLM enrichment hangs off the side deliberately. It sees only the pages the crawler already</a:t>
            </a:r>
          </a:p>
          <a:p>
            <a:r>
              <a:t>        found and can rewrite titles, section names and descriptions — it never contributes a URL,</a:t>
            </a:r>
          </a:p>
          <a:p>
            <a:r>
              <a:t>        so it cannot hallucinate a page into the file. If the key is missing, the deterministic</a:t>
            </a:r>
          </a:p>
          <a:p>
            <a:r>
              <a:t>        path still produces a valid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brief asked for generation plus automated updates. I added two things because the</a:t>
            </a:r>
          </a:p>
          <a:p>
            <a:r>
              <a:t>        obvious question after "is the file valid?" is "does it do anything?", and validity</a:t>
            </a:r>
          </a:p>
          <a:p>
            <a:r>
              <a:t>        answers neither of the two ways this fails in the real world.</a:t>
            </a:r>
          </a:p>
          <a:p/>
          <a:p>
            <a:r>
              <a:t>        First failure mode: the file is perfect but the crawler never gets to read it — robots.txt</a:t>
            </a:r>
          </a:p>
          <a:p>
            <a:r>
              <a:t>        blocks GPTBot, or a WAF serves a challenge page to anything that isn't a browser. The</a:t>
            </a:r>
          </a:p>
          <a:p>
            <a:r>
              <a:t>        audit tests that directly by fetching the site as each named bot and comparing what came</a:t>
            </a:r>
          </a:p>
          <a:p>
            <a:r>
              <a:t>        back with a browser-like baseline, so it catches cloaking that a normal crawl never sees.</a:t>
            </a:r>
          </a:p>
          <a:p/>
          <a:p>
            <a:r>
              <a:t>        Second failure mode: the file is fetched and parsed, but the descriptions are so generic</a:t>
            </a:r>
          </a:p>
          <a:p>
            <a:r>
              <a:t>        that the agent picks the wrong link. The retrieval eval quantifies that with a</a:t>
            </a:r>
          </a:p>
          <a:p>
            <a:r>
              <a:t>        writer/reader pair — I'll show the mechanics later.</a:t>
            </a:r>
          </a:p>
          <a:p/>
          <a:p>
            <a:r>
              <a:t>        Both were also chosen because they're the questions Profound's customers ask: why am I</a:t>
            </a:r>
          </a:p>
          <a:p>
            <a:r>
              <a:t>        invisible in AI answers, and what do I change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script, in case I lose the network and have to talk through screenshots.</a:t>
            </a:r>
          </a:p>
          <a:p/>
          <a:p>
            <a:r>
              <a:t>        One: paste tryprofound.com and hit generate. Progress ticks in slices rather than sitting</a:t>
            </a:r>
          </a:p>
          <a:p>
            <a:r>
              <a:t>        on a spinner, because each slice is its own request — that's the serverless constraint</a:t>
            </a:r>
          </a:p>
          <a:p>
            <a:r>
              <a:t>        showing through in the UX, and it's a feature: you can see how far it got.</a:t>
            </a:r>
          </a:p>
          <a:p/>
          <a:p>
            <a:r>
              <a:t>        Two: the result. Sections come from page kind, the ordering comes from the ranking score,</a:t>
            </a:r>
          </a:p>
          <a:p>
            <a:r>
              <a:t>        and each link has a note. Next to it, the validation panel grades the exact rendered text.</a:t>
            </a:r>
          </a:p>
          <a:p/>
          <a:p>
            <a:r>
              <a:t>        Three: tick monitoring and hit refresh. If nothing changed, you get "no changes" and no</a:t>
            </a:r>
          </a:p>
          <a:p>
            <a:r>
              <a:t>        snapshot is written; if something changed, you get a page-level diff — added, removed,</a:t>
            </a:r>
          </a:p>
          <a:p>
            <a:r>
              <a:t>        edited — and a new snapshot. The file URL underneath is stable across all of that.</a:t>
            </a:r>
          </a:p>
          <a:p/>
          <a:p>
            <a:r>
              <a:t>        Four: run the audit and the retrieval eval on the same result, which is the natural</a:t>
            </a:r>
          </a:p>
          <a:p>
            <a:r>
              <a:t>        segue into the two deep-dive slides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thing is one Next.js 15 app on Vercel. Route handlers are thin: parse and</a:t>
            </a:r>
          </a:p>
          <a:p>
            <a:r>
              <a:t>        validate input with Zod, call a library function, return JSON. All the logic lives in</a:t>
            </a:r>
          </a:p>
          <a:p>
            <a:r>
              <a:t>        src/lib as plain TypeScript functions with no framework or platform imports, which is why</a:t>
            </a:r>
          </a:p>
          <a:p>
            <a:r>
              <a:t>        it's straightforward to unit test — the test suite never boots a server.</a:t>
            </a:r>
          </a:p>
          <a:p/>
          <a:p>
            <a:r>
              <a:t>        Three entry points into the same pipeline. /api/generate starts and advances a job.</a:t>
            </a:r>
          </a:p>
          <a:p>
            <a:r>
              <a:t>        /api/sites tracks, refreshes and lists history. /api/audit and /api/eval run the two</a:t>
            </a:r>
          </a:p>
          <a:p>
            <a:r>
              <a:t>        beyond-spec features against an existing result. The cron endpoint calls the same</a:t>
            </a:r>
          </a:p>
          <a:p>
            <a:r>
              <a:t>        refreshSite() the manual button does, so there's exactly one refresh code path.</a:t>
            </a:r>
          </a:p>
          <a:p/>
          <a:p>
            <a:r>
              <a:t>        Persistence is behind a Store interface with two implementations: Neon Postgres in</a:t>
            </a:r>
          </a:p>
          <a:p>
            <a:r>
              <a:t>        production, in-memory for local and for CI. And GET /s/{siteId}/llms.txt reads the latest</a:t>
            </a:r>
          </a:p>
          <a:p>
            <a:r>
              <a:t>        snapshot straight from the store, so serving is a database read rather than a crawl.</a:t>
            </a:r>
          </a:p>
          <a:p/>
          <a:p>
            <a:r>
              <a:t>        The dotted edge is the OpenAI call — optional, and only ever enrichment.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constraint that shaped this component: a Vercel function has a hard execution limit,</a:t>
            </a:r>
          </a:p>
          <a:p>
            <a:r>
              <a:t>        and crawling a hundred pages politely takes longer than that. The usual answer is a</a:t>
            </a:r>
          </a:p>
          <a:p>
            <a:r>
              <a:t>        queue and a worker; I didn't want to add that infrastructure for a take-home, so I made</a:t>
            </a:r>
          </a:p>
          <a:p>
            <a:r>
              <a:t>        the crawl itself interruptible.</a:t>
            </a:r>
          </a:p>
          <a:p/>
          <a:p>
            <a:r>
              <a:t>        initCrawl resolves robots.txt, collects sitemap URLs and returns a state object — frontier,</a:t>
            </a:r>
          </a:p>
          <a:p>
            <a:r>
              <a:t>        visited set, pages, inbound-link counts, nav URLs, counters. crawlSlice takes that state</a:t>
            </a:r>
          </a:p>
          <a:p>
            <a:r>
              <a:t>        and a millisecond budget, fetches batches of six concurrently until the budget or the page</a:t>
            </a:r>
          </a:p>
          <a:p>
            <a:r>
              <a:t>        cap is hit, and returns new state. The route persists it and returns progress; the browser</a:t>
            </a:r>
          </a:p>
          <a:p>
            <a:r>
              <a:t>        calls again. So a crawl is a loop of ordinary HTTP requests, each one comfortably inside</a:t>
            </a:r>
          </a:p>
          <a:p>
            <a:r>
              <a:t>        the timeout.</a:t>
            </a:r>
          </a:p>
          <a:p/>
          <a:p>
            <a:r>
              <a:t>        Sitemaps first because they give breadth for one or two fetches, including sitemap indexes</a:t>
            </a:r>
          </a:p>
          <a:p>
            <a:r>
              <a:t>        and gzipped sitemaps. Link crawling still runs, partly as a fallback for sites without a</a:t>
            </a:r>
          </a:p>
          <a:p>
            <a:r>
              <a:t>        usable sitemap, and partly because I need the link graph: inbound counts and navigation</a:t>
            </a:r>
          </a:p>
          <a:p>
            <a:r>
              <a:t>        membership are two of the strongest ranking signals I have.</a:t>
            </a:r>
          </a:p>
          <a:p/>
          <a:p>
            <a:r>
              <a:t>        Politeness is not optional if you're going to point this at other people's sites: robots</a:t>
            </a:r>
          </a:p>
          <a:p>
            <a:r>
              <a:t>        is respected by default, crawl-delay is honoured but capped at two seconds so one hostile</a:t>
            </a:r>
          </a:p>
          <a:p>
            <a:r>
              <a:t>        value can't hang a run, and concurrency is six.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Extraction is Cheerio, not a browser, and it's a cascade of fallbacks per field because</a:t>
            </a:r>
          </a:p>
          <a:p>
            <a:r>
              <a:t>        every site is wrong in a different way. Title: h1, then og:title, then the title tag, with</a:t>
            </a:r>
          </a:p>
          <a:p>
            <a:r>
              <a:t>        the trailing " | Site Name" suffix stripped so section lists don't read like a stutter.</a:t>
            </a:r>
          </a:p>
          <a:p>
            <a:r>
              <a:t>        Description: meta description, then Open Graph, then Twitter cards, then JSON-LD, and only</a:t>
            </a:r>
          </a:p>
          <a:p>
            <a:r>
              <a:t>        then the first couple of sentences of body text.</a:t>
            </a:r>
          </a:p>
          <a:p/>
          <a:p>
            <a:r>
              <a:t>        Two things here are load-bearing later. The canonical URL is resolved and normalized —</a:t>
            </a:r>
          </a:p>
          <a:p>
            <a:r>
              <a:t>        trailing slashes, index files, tracking params, fragment stripping — because otherwise the</a:t>
            </a:r>
          </a:p>
          <a:p>
            <a:r>
              <a:t>        same page shows up three times in the file and the duplicate-page check in the audit</a:t>
            </a:r>
          </a:p>
          <a:p>
            <a:r>
              <a:t>        misfires. And every page gets a sha content hash over the fields that matter, which is</a:t>
            </a:r>
          </a:p>
          <a:p>
            <a:r>
              <a:t>        what makes monitoring cheap: a refresh compares hashes rather than diffing text.</a:t>
            </a:r>
          </a:p>
          <a:p/>
          <a:p>
            <a:r>
              <a:t>        The markdown alternate is a small detail with a big payoff. If a site publishes a</a:t>
            </a:r>
          </a:p>
          <a:p>
            <a:r>
              <a:t>        text/markdown alternate — increasingly common in docs tooling — I link to that instead of</a:t>
            </a:r>
          </a:p>
          <a:p>
            <a:r>
              <a:t>        the HTML page, so the agent gets clean prose with no markup to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crawl of a real site returns far more pages than belong in an index, so something has to</a:t>
            </a:r>
          </a:p>
          <a:p>
            <a:r>
              <a:t>        choose. scorePage is deliberately a readable formula rather than a model: page kind sets</a:t>
            </a:r>
          </a:p>
          <a:p>
            <a:r>
              <a:t>        the base — home 100, docs 40, api 38, guides 34, product 26, legal 2 — then depth costs 8</a:t>
            </a:r>
          </a:p>
          <a:p>
            <a:r>
              <a:t>        per level, inbound links add 2.5 each up to a cap, being in the navigation adds 18,</a:t>
            </a:r>
          </a:p>
          <a:p>
            <a:r>
              <a:t>        appearing in the sitemap, having a markdown alternate and having a real description all</a:t>
            </a:r>
          </a:p>
          <a:p>
            <a:r>
              <a:t>        add, and content volume adds a little with penalties for pagination-style paths.</a:t>
            </a:r>
          </a:p>
          <a:p/>
          <a:p>
            <a:r>
              <a:t>        I can defend every one of those numbers in an interview, which is exactly the point: when</a:t>
            </a:r>
          </a:p>
          <a:p>
            <a:r>
              <a:t>        a customer asks why their pricing page ranked below the API reference, I can answer from</a:t>
            </a:r>
          </a:p>
          <a:p>
            <a:r>
              <a:t>        the formula instead of shrugging at a model.</a:t>
            </a:r>
          </a:p>
          <a:p/>
          <a:p>
            <a:r>
              <a:t>        Grouping then walks the ranked list into fixed-order sections by page kind — Overview,</a:t>
            </a:r>
          </a:p>
          <a:p>
            <a:r>
              <a:t>        Documentation, API Reference, Guides, and so on — under a link budget of 25 per section</a:t>
            </a:r>
          </a:p>
          <a:p>
            <a:r>
              <a:t>        and 120 overall. Oversized "Other" buckets get split by top-level path so you don't get one</a:t>
            </a:r>
          </a:p>
          <a:p>
            <a:r>
              <a:t>        section with sixty links. Legal pages and everything past the budget fall into Optional,</a:t>
            </a:r>
          </a:p>
          <a:p>
            <a:r>
              <a:t>        which is the spec's own escape hatch for agents under context pressure.</a:t>
            </a:r>
          </a:p>
          <a:p/>
          <a:p>
            <a:r>
              <a:t>        The honest weakness: the weights encode my assumptions about how sites are laid out. They</a:t>
            </a:r>
          </a:p>
          <a:p>
            <a:r>
              <a:t>        do well on docs-shaped and marketing-shaped sites and less well on, say, an e-commerce</a:t>
            </a:r>
          </a:p>
          <a:p>
            <a:r>
              <a:t>        catalogue. Clustering embeddings would generalise, at the cost of a model call per page</a:t>
            </a:r>
          </a:p>
          <a:p>
            <a:r>
              <a:t>        and a much harder answer to "why is this page here".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Rendering is split in two on purpose: buildDocument produces a typed document — title,</a:t>
            </a:r>
          </a:p>
          <a:p>
            <a:r>
              <a:t>        summary, sections, links, notes — and renderLlmsTxt turns that into markdown. Nothing else</a:t>
            </a:r>
          </a:p>
          <a:p>
            <a:r>
              <a:t>        in the codebase writes llms.txt syntax, so there's one place where the format lives, and</a:t>
            </a:r>
          </a:p>
          <a:p>
            <a:r>
              <a:t>        the validator can be written against the output without sharing code with the builder.</a:t>
            </a:r>
          </a:p>
          <a:p/>
          <a:p>
            <a:r>
              <a:t>        The notes are where the quality actually is. A link line without a note is nearly useless</a:t>
            </a:r>
          </a:p>
          <a:p>
            <a:r>
              <a:t>        to an agent choosing between two pages, so each note comes from the best description I</a:t>
            </a:r>
          </a:p>
          <a:p>
            <a:r>
              <a:t>        could extract, trimmed to a single clause. When an OpenAI key is present, gpt-4o-mini</a:t>
            </a:r>
          </a:p>
          <a:p>
            <a:r>
              <a:t>        rewrites titles, section names and notes in one batched call — but it's handed the list of</a:t>
            </a:r>
          </a:p>
          <a:p>
            <a:r>
              <a:t>        pages and asked only to relabel them. It never returns URLs, which is the guardrail that</a:t>
            </a:r>
          </a:p>
          <a:p>
            <a:r>
              <a:t>        makes the optional model safe to enable.</a:t>
            </a:r>
          </a:p>
          <a:p/>
          <a:p>
            <a:r>
              <a:t>        llms-full.txt uses the same document and inlines page text. It's genuinely useful for a</a:t>
            </a:r>
          </a:p>
          <a:p>
            <a:r>
              <a:t>        small docs site and completely impractical for a large one, so it's opt-in.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validateLlmsTxt takes a string and returns errors and warnings. The deliberate choice is</a:t>
            </a:r>
          </a:p>
          <a:p>
            <a:r>
              <a:t>        that it re-parses the rendered document rather than inspecting the in-memory model. If the</a:t>
            </a:r>
          </a:p>
          <a:p>
            <a:r>
              <a:t>        renderer has a bug, a state-based check would happily agree with it; a text-based check</a:t>
            </a:r>
          </a:p>
          <a:p>
            <a:r>
              <a:t>        catches it. That's also what lets me point the same function at somebody else's live</a:t>
            </a:r>
          </a:p>
          <a:p>
            <a:r>
              <a:t>        /llms.txt during the audit, where I have no model at all — only bytes.</a:t>
            </a:r>
          </a:p>
          <a:p/>
          <a:p>
            <a:r>
              <a:t>        The severity split follows the spec: structural violations are errors — no H1, more than</a:t>
            </a:r>
          </a:p>
          <a:p>
            <a:r>
              <a:t>        one H1, content before the title, link lines that don't parse, headings deeper than H2.</a:t>
            </a:r>
          </a:p>
          <a:p>
            <a:r>
              <a:t>        Things that are legal but degrade usefulness are warnings — the same URL listed twice, a</a:t>
            </a:r>
          </a:p>
          <a:p>
            <a:r>
              <a:t>        missing summary blockquote, links with no note.</a:t>
            </a:r>
          </a:p>
          <a:p/>
          <a:p>
            <a:r>
              <a:t>        Three callers share it: the generator UI grades every result inline, POST /api/validate</a:t>
            </a:r>
          </a:p>
          <a:p>
            <a:r>
              <a:t>        lets you paste an arbitrary file, and the audit uses it on whatever the domain is already</a:t>
            </a:r>
          </a:p>
          <a:p>
            <a:r>
              <a:t>        serving. One definition of "valid", no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Automated updates were an explicit requirement, and the naive version — re-render nightly</a:t>
            </a:r>
          </a:p>
          <a:p>
            <a:r>
              <a:t>        and store the result — produces a history where every day looks like a change and nobody</a:t>
            </a:r>
          </a:p>
          <a:p>
            <a:r>
              <a:t>        can see what actually happened.</a:t>
            </a:r>
          </a:p>
          <a:p/>
          <a:p>
            <a:r>
              <a:t>        So the unit of comparison is the page, not the file. Every page carries a content hash;</a:t>
            </a:r>
          </a:p>
          <a:p>
            <a:r>
              <a:t>        diffPages compares the previous snapshot's pages with the new crawl and reports added,</a:t>
            </a:r>
          </a:p>
          <a:p>
            <a:r>
              <a:t>        removed and changed URLs, including what moved in the title or description. Those page</a:t>
            </a:r>
          </a:p>
          <a:p>
            <a:r>
              <a:t>        hashes roll up into a snapshot hash. If the snapshot hash is unchanged, I update</a:t>
            </a:r>
          </a:p>
          <a:p>
            <a:r>
              <a:t>        lastCheckedAt and write nothing. If it changed, I store a new snapshot with the diff</a:t>
            </a:r>
          </a:p>
          <a:p>
            <a:r>
              <a:t>        attached.</a:t>
            </a:r>
          </a:p>
          <a:p/>
          <a:p>
            <a:r>
              <a:t>        Two consequences. History stays legible — the timeline only contains days where something</a:t>
            </a:r>
          </a:p>
          <a:p>
            <a:r>
              <a:t>        really happened — and storage stays small, because I drop page text from stored snapshots</a:t>
            </a:r>
          </a:p>
          <a:p>
            <a:r>
              <a:t>        unless llms-full.txt needs it.</a:t>
            </a:r>
          </a:p>
          <a:p/>
          <a:p>
            <a:r>
              <a:t>        Both triggers call the same function, which matters more than it sounds: the daily Vercel</a:t>
            </a:r>
          </a:p>
          <a:p>
            <a:r>
              <a:t>        cron and the Refresh button in the UI cannot drift apart. The cost of the hash approach is</a:t>
            </a:r>
          </a:p>
          <a:p>
            <a:r>
              <a:t>        that a change which doesn't affect the hashed fields — pure formatting, say — reads as no</a:t>
            </a:r>
          </a:p>
          <a:p>
            <a:r>
              <a:t>        change at all. For this use case that's the right side of the trade.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tables. Sites: the tracked domain, its crawl options, whether monitoring is on, and</a:t>
            </a:r>
          </a:p>
          <a:p>
            <a:r>
              <a:t>        when it was last checked. Snapshots: the rendered llms.txt, its content hash, the page</a:t>
            </a:r>
          </a:p>
          <a:p>
            <a:r>
              <a:t>        records and the diff, one row per actual change. Jobs: an in-flight crawl — the serialized</a:t>
            </a:r>
          </a:p>
          <a:p>
            <a:r>
              <a:t>        crawl state, progress, and the finished result.</a:t>
            </a:r>
          </a:p>
          <a:p/>
          <a:p>
            <a:r>
              <a:t>        That jobs table is what makes the slice-based crawl work on serverless. The crawl isn't a</a:t>
            </a:r>
          </a:p>
          <a:p>
            <a:r>
              <a:t>        thread anybody has to keep alive; it's a row. Whichever function instance handles the next</a:t>
            </a:r>
          </a:p>
          <a:p>
            <a:r>
              <a:t>        request loads the state, advances it by one slice, and writes it back.</a:t>
            </a:r>
          </a:p>
          <a:p/>
          <a:p>
            <a:r>
              <a:t>        Everything goes through a Store interface with a Neon Postgres implementation and an</a:t>
            </a:r>
          </a:p>
          <a:p>
            <a:r>
              <a:t>        in-memory one. It means you can clone the repo and run the app with no infrastructure at</a:t>
            </a:r>
          </a:p>
          <a:p>
            <a:r>
              <a:t>        all, and the whole test suite runs without a database. The price is honest: two</a:t>
            </a:r>
          </a:p>
          <a:p>
            <a:r>
              <a:t>        implementations to keep in sync, and I can't reach for Postgres-specific features like</a:t>
            </a:r>
          </a:p>
          <a:p>
            <a:r>
              <a:t>        JSONB indexes or LISTEN/NOTIFY without breaking the in-memory path.</a:t>
            </a:r>
          </a:p>
          <a:p/>
          <a:p>
            <a:r>
              <a:t>        Schema is created on first use rather than through a migration tool — right call for a</a:t>
            </a:r>
          </a:p>
          <a:p>
            <a:r>
              <a:t>        take-home, first thing I'd replace with real migrations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audit answers "can an answer engine reach this content at all", and it does it by</a:t>
            </a:r>
          </a:p>
          <a:p>
            <a:r>
              <a:t>        measurement rather than by linting.</a:t>
            </a:r>
          </a:p>
          <a:p/>
          <a:p>
            <a:r>
              <a:t>        For each of six named agents — GPTBot, OAI-SearchBot, ChatGPT-User, ClaudeBot,</a:t>
            </a:r>
          </a:p>
          <a:p>
            <a:r>
              <a:t>        PerplexityBot and Google-Extended — I evaluate the site's robots.txt with that exact</a:t>
            </a:r>
          </a:p>
          <a:p>
            <a:r>
              <a:t>        user-agent, then actually fetch the entry page identifying as that bot. The response is</a:t>
            </a:r>
          </a:p>
          <a:p>
            <a:r>
              <a:t>        compared with a browser-like baseline fetch. If GPTBot gets a fraction of the bytes a</a:t>
            </a:r>
          </a:p>
          <a:p>
            <a:r>
              <a:t>        browser gets, that's a WAF challenge page or a JS stub, and it's the single most common</a:t>
            </a:r>
          </a:p>
          <a:p>
            <a:r>
              <a:t>        reason a brand is missing from AI answers. You cannot detect that by reading robots.txt.</a:t>
            </a:r>
          </a:p>
          <a:p/>
          <a:p>
            <a:r>
              <a:t>        Around that sit content checks: sitemap coverage, missing descriptions, thin and duplicate</a:t>
            </a:r>
          </a:p>
          <a:p>
            <a:r>
              <a:t>        pages, markdown alternates, canonical tags, whether content is server-rendered — plus, if</a:t>
            </a:r>
          </a:p>
          <a:p>
            <a:r>
              <a:t>        the domain already publishes an /llms.txt, I fetch it, validate it, and compare it against</a:t>
            </a:r>
          </a:p>
          <a:p>
            <a:r>
              <a:t>        my fresh crawl to find stale links and pages the live file never mentions.</a:t>
            </a:r>
          </a:p>
          <a:p/>
          <a:p>
            <a:r>
              <a:t>        The checks are weighted into a score and a grade, A down to F, and every failure carries</a:t>
            </a:r>
          </a:p>
          <a:p>
            <a:r>
              <a:t>        the specific fix. That's the deliverable a customer can act on: not "you scored 62" but</a:t>
            </a:r>
          </a:p>
          <a:p>
            <a:r>
              <a:t>        "GPTBot is blocked by this line in robots.txt, and 40 of your docs pages have no</a:t>
            </a:r>
          </a:p>
          <a:p>
            <a:r>
              <a:t>        description".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one I'd defend hardest as a product idea. A file can be perfectly valid and</a:t>
            </a:r>
          </a:p>
          <a:p>
            <a:r>
              <a:t>        still useless, because the notes don't distinguish between pages. The eval measures that.</a:t>
            </a:r>
          </a:p>
          <a:p/>
          <a:p>
            <a:r>
              <a:t>        A writer model sees the crawled pages with their content and writes eight questions a real</a:t>
            </a:r>
          </a:p>
          <a:p>
            <a:r>
              <a:t>        user might ask, each tagged with the link id that should answer it. A reader model then</a:t>
            </a:r>
          </a:p>
          <a:p>
            <a:r>
              <a:t>        sees only the generated llms.txt — no page content — and answers each question by choosing</a:t>
            </a:r>
          </a:p>
          <a:p>
            <a:r>
              <a:t>        a link id. Accuracy is how often the reader lands on the page the writer had in mind.</a:t>
            </a:r>
          </a:p>
          <a:p/>
          <a:p>
            <a:r>
              <a:t>        The design detail that makes it trustworthy: both sides exchange numbered ids, never URLs.</a:t>
            </a:r>
          </a:p>
          <a:p>
            <a:r>
              <a:t>        If the reader invents something, the id doesn't resolve and it's a miss — it can't get</a:t>
            </a:r>
          </a:p>
          <a:p>
            <a:r>
              <a:t>        silent credit for a plausible-looking URL.</a:t>
            </a:r>
          </a:p>
          <a:p/>
          <a:p>
            <a:r>
              <a:t>        And the failures are the useful output. Every miss names the link that was chosen instead</a:t>
            </a:r>
          </a:p>
          <a:p>
            <a:r>
              <a:t>        and why its note didn't disambiguate, which is precisely the description to rewrite. Run</a:t>
            </a:r>
          </a:p>
          <a:p>
            <a:r>
              <a:t>        it before and after an edit and you can see whether the file got better, which is what</a:t>
            </a:r>
          </a:p>
          <a:p>
            <a:r>
              <a:t>        turns this from a vibe into a regression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Pulling the trade-offs into one place, because this is usually the part of the interview</a:t>
            </a:r>
          </a:p>
          <a:p>
            <a:r>
              <a:t>        that matters.</a:t>
            </a:r>
          </a:p>
          <a:p/>
          <a:p>
            <a:r>
              <a:t>        Slice crawling: I chose more moving parts over a crawl that dies at 60 seconds. The state</a:t>
            </a:r>
          </a:p>
          <a:p>
            <a:r>
              <a:t>        has to be serializable and each slice is a round-trip, but progress is visible and nothing</a:t>
            </a:r>
          </a:p>
          <a:p>
            <a:r>
              <a:t>        is lost when a function is recycled.</a:t>
            </a:r>
          </a:p>
          <a:p/>
          <a:p>
            <a:r>
              <a:t>        Heuristics first: the deterministic path always produces a spec-valid file. The model is</a:t>
            </a:r>
          </a:p>
          <a:p>
            <a:r>
              <a:t>        strictly an enhancement, and it's structurally prevented from inventing URLs. A missing</a:t>
            </a:r>
          </a:p>
          <a:p>
            <a:r>
              <a:t>        key degrades wording, never correctness.</a:t>
            </a:r>
          </a:p>
          <a:p/>
          <a:p>
            <a:r>
              <a:t>        Hash diffing: cheap no-ops and readable history, in exchange for being blind to changes</a:t>
            </a:r>
          </a:p>
          <a:p>
            <a:r>
              <a:t>        that don't touch the hashed fields.</a:t>
            </a:r>
          </a:p>
          <a:p/>
          <a:p>
            <a:r>
              <a:t>        Opt-in audit and eval: six bot probes plus two LLM calls would double the latency of every</a:t>
            </a:r>
          </a:p>
          <a:p>
            <a:r>
              <a:t>        generation for a feature most runs don't need.</a:t>
            </a:r>
          </a:p>
          <a:p/>
          <a:p>
            <a:r>
              <a:t>        Two store implementations: worth it for a project that has to be clonable and testable</a:t>
            </a:r>
          </a:p>
          <a:p>
            <a:r>
              <a:t>        without infrastructure; the first thing I'd collapse if this became a real product.</a:t>
            </a:r>
          </a:p>
          <a:p/>
          <a:p>
            <a:r>
              <a:t>        On testing, since it usually comes up: the suite is Vitest over the pure functions — robots</a:t>
            </a:r>
          </a:p>
          <a:p>
            <a:r>
              <a:t>        and sitemap parsing including wildcards, anchors, indexes and gzip; extraction fallbacks</a:t>
            </a:r>
          </a:p>
          <a:p>
            <a:r>
              <a:t>        and URL normalization; classification and ranking order; sectioning and link budgets;</a:t>
            </a:r>
          </a:p>
          <a:p>
            <a:r>
              <a:t>        validation errors and warnings; snapshot diffing; and audit scoring. Plus lint, typecheck</a:t>
            </a:r>
          </a:p>
          <a:p>
            <a:r>
              <a:t>        and build in the same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things, roughly in the order I'd do them.</a:t>
            </a:r>
          </a:p>
          <a:p/>
          <a:p>
            <a:r>
              <a:t>        Headless rendering: the biggest correctness gap. A fully client-rendered site extracts as</a:t>
            </a:r>
          </a:p>
          <a:p>
            <a:r>
              <a:t>        an empty page today. I'd keep Cheerio as the fast path and fall back to a real browser</a:t>
            </a:r>
          </a:p>
          <a:p>
            <a:r>
              <a:t>        only for pages that come back suspiciously thin, so I pay for it on the few pages that</a:t>
            </a:r>
          </a:p>
          <a:p>
            <a:r>
              <a:t>        need it.</a:t>
            </a:r>
          </a:p>
          <a:p/>
          <a:p>
            <a:r>
              <a:t>        Embeddings: cluster page embeddings to derive sections from what pages are about rather</a:t>
            </a:r>
          </a:p>
          <a:p>
            <a:r>
              <a:t>        than from URL segments, and use similarity to catch near-duplicates the hash misses. The</a:t>
            </a:r>
          </a:p>
          <a:p>
            <a:r>
              <a:t>        cost is explainability, so I'd want the heuristic score kept alongside it.</a:t>
            </a:r>
          </a:p>
          <a:p/>
          <a:p>
            <a:r>
              <a:t>        Incremental recrawl: right now a refresh re-crawls the whole site. ETag and</a:t>
            </a:r>
          </a:p>
          <a:p>
            <a:r>
              <a:t>        If-Modified-Since plus per-page scheduling — hot docs pages hourly, legal pages monthly —</a:t>
            </a:r>
          </a:p>
          <a:p>
            <a:r>
              <a:t>        would cut the daily cost by an order of magnitude on a large site.</a:t>
            </a:r>
          </a:p>
          <a:p/>
          <a:p>
            <a:r>
              <a:t>        Event-driven refresh: polling a sitemap's lastmod, or better, a CMS or deploy webhook, so</a:t>
            </a:r>
          </a:p>
          <a:p>
            <a:r>
              <a:t>        the file is minutes behind a publish instead of up to a day.</a:t>
            </a:r>
          </a:p>
          <a:p/>
          <a:p>
            <a:r>
              <a:t>        And trends: both the audit grade and the retrieval accuracy are far more interesting as a</a:t>
            </a:r>
          </a:p>
          <a:p>
            <a:r>
              <a:t>        line over time than as a single number — that's the dashboard I'd build if this were a</a:t>
            </a:r>
          </a:p>
          <a:p>
            <a:r>
              <a:t>        product rather than a take-home.</a:t>
            </a:r>
          </a:p>
          <a:p/>
          <a:p>
            <a:r>
              <a:t>        That's the tour — happy to go deeper anywhere, and the live app is on the screen if you'd</a:t>
            </a:r>
          </a:p>
          <a:p>
            <a:r>
              <a:t>        like to throw a domain at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38328" y="54864"/>
            <a:ext cx="0" cy="4800600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769096" y="54864"/>
            <a:ext cx="0" cy="4800600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4873752"/>
            <a:ext cx="9144000" cy="0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996696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200" b="0" i="0">
                <a:solidFill>
                  <a:srgbClr val="F3F3F3"/>
                </a:solidFill>
                <a:latin typeface="Helvetica Neue"/>
              </a:rPr>
              <a:t>Automated llms.txt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37360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800" b="0" i="0">
                <a:solidFill>
                  <a:srgbClr val="F3F3F3"/>
                </a:solidFill>
                <a:latin typeface="Helvetica Neue Light"/>
              </a:rPr>
              <a:t>Making a site legible to answer engines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2450592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C8C8C0"/>
                </a:solidFill>
                <a:latin typeface="Roboto Mono"/>
              </a:rPr>
              <a:t>https://llms-txt-nela-taeb.vercel.app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840480"/>
            <a:ext cx="5257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600" b="0" i="1">
                <a:solidFill>
                  <a:srgbClr val="F3F3F3"/>
                </a:solidFill>
                <a:latin typeface="Helvetica Neue Light"/>
              </a:rPr>
              <a:t>Nela Taeb  |  FDE Candidate</a:t>
            </a:r>
          </a:p>
        </p:txBody>
      </p:sp>
      <p:pic>
        <p:nvPicPr>
          <p:cNvPr id="9" name="Picture 8" descr="profou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3840480"/>
            <a:ext cx="1929384" cy="5482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10312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915400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292608"/>
            <a:ext cx="9144000" cy="0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53035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58952"/>
            <a:ext cx="8046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0" i="0">
                <a:solidFill>
                  <a:srgbClr val="F3F3F3"/>
                </a:solidFill>
                <a:latin typeface="Helvetica Neue Light"/>
              </a:rPr>
              <a:t>What I'll walk through</a:t>
            </a:r>
          </a:p>
        </p:txBody>
      </p:sp>
      <p:pic>
        <p:nvPicPr>
          <p:cNvPr id="7" name="Picture 6" descr="profou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4636008"/>
            <a:ext cx="1225296" cy="3482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" y="149961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1481328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F3F3F3"/>
                </a:solidFill>
                <a:latin typeface="Helvetica Neue Light"/>
              </a:rPr>
              <a:t>Problem &amp; the standard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93052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6" y="1912239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F3F3F3"/>
                </a:solidFill>
                <a:latin typeface="Helvetica Neue Light"/>
              </a:rPr>
              <a:t>Product overview and the core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36143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576" y="2343150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F3F3F3"/>
                </a:solidFill>
                <a:latin typeface="Helvetica Neue Light"/>
              </a:rPr>
              <a:t>Beyond spec: audit and retrieval 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79234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9576" y="2774061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F3F3F3"/>
                </a:solidFill>
                <a:latin typeface="Helvetica Neue Light"/>
              </a:rPr>
              <a:t>Live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22326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9576" y="3204972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F3F3F3"/>
                </a:solidFill>
                <a:latin typeface="Helvetica Neue Light"/>
              </a:rPr>
              <a:t>Technical deep dive, component by component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365417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9576" y="3635883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F3F3F3"/>
                </a:solidFill>
                <a:latin typeface="Helvetica Neue Light"/>
              </a:rPr>
              <a:t>Trade-offs and what I'd build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10312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915400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292608"/>
            <a:ext cx="9144000" cy="0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53035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58952"/>
            <a:ext cx="8046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0" i="0">
                <a:solidFill>
                  <a:srgbClr val="F3F3F3"/>
                </a:solidFill>
                <a:latin typeface="Helvetica Neue Light"/>
              </a:rPr>
              <a:t>AI answers are the new front page</a:t>
            </a:r>
          </a:p>
        </p:txBody>
      </p:sp>
      <p:pic>
        <p:nvPicPr>
          <p:cNvPr id="7" name="Picture 6" descr="profou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4636008"/>
            <a:ext cx="1225296" cy="3482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600200"/>
            <a:ext cx="3840480" cy="1280160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101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86968" y="1801368"/>
            <a:ext cx="3438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 b="0" i="0">
                <a:solidFill>
                  <a:srgbClr val="F3F3F3"/>
                </a:solidFill>
                <a:latin typeface="Helvetica Neue Light"/>
              </a:rPr>
              <a:t>Discovery moved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39112"/>
            <a:ext cx="3438144" cy="6583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Answer engines reply instead of returning ten links.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45736" y="1600200"/>
            <a:ext cx="3840480" cy="1280160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101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946904" y="1801368"/>
            <a:ext cx="3438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 b="0" i="0">
                <a:solidFill>
                  <a:srgbClr val="F3F3F3"/>
                </a:solidFill>
                <a:latin typeface="Helvetica Neue Light"/>
              </a:rPr>
              <a:t>HTML is hostile to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6904" y="2039112"/>
            <a:ext cx="3438144" cy="6583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Nav, banners and JS shells bury the content.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81528"/>
            <a:ext cx="3840480" cy="1280160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101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86968" y="3282696"/>
            <a:ext cx="3438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 b="0" i="0">
                <a:solidFill>
                  <a:srgbClr val="F3F3F3"/>
                </a:solidFill>
                <a:latin typeface="Helvetica Neue Light"/>
              </a:rPr>
              <a:t>Context budgets are small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520440"/>
            <a:ext cx="3438144" cy="6583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A crawler reads a fraction of a site, if any.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45736" y="3081528"/>
            <a:ext cx="3840480" cy="1280160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101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946904" y="3282696"/>
            <a:ext cx="3438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 b="0" i="0">
                <a:solidFill>
                  <a:srgbClr val="F3F3F3"/>
                </a:solidFill>
                <a:latin typeface="Helvetica Neue Light"/>
              </a:rPr>
              <a:t>Hand-authoring doesn't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46904" y="3520440"/>
            <a:ext cx="3438144" cy="6583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Someone must curate — and re-curate on every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10312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915400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292608"/>
            <a:ext cx="9144000" cy="0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53035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"/>
              </a:rPr>
              <a:t>The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58952"/>
            <a:ext cx="8046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0" i="0">
                <a:solidFill>
                  <a:srgbClr val="F3F3F3"/>
                </a:solidFill>
                <a:latin typeface="Helvetica Neue Light"/>
              </a:rPr>
              <a:t>What llms.txt has to look like</a:t>
            </a:r>
          </a:p>
        </p:txBody>
      </p:sp>
      <p:pic>
        <p:nvPicPr>
          <p:cNvPr id="7" name="Picture 6" descr="profou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4636008"/>
            <a:ext cx="1225296" cy="3482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508760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 Light"/>
              </a:rPr>
              <a:t>H1 —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78253"/>
            <a:ext cx="3749039" cy="161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one title, first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59381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 Light"/>
              </a:rPr>
              <a:t>Blockquote —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28875"/>
            <a:ext cx="3749039" cy="161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what the site is, in a sentence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1000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 Light"/>
              </a:rPr>
              <a:t>H2 sections of link lists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79496"/>
            <a:ext cx="3749039" cy="161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[title](url):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6062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 Light"/>
              </a:rPr>
              <a:t>Optional — the escape hatch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30116"/>
            <a:ext cx="3749039" cy="161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safe to skip under context pressure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508760"/>
            <a:ext cx="3840480" cy="1907032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101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828031" y="1636776"/>
            <a:ext cx="3511296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00" b="0" i="0">
                <a:solidFill>
                  <a:srgbClr val="C8C8C0"/>
                </a:solidFill>
                <a:latin typeface="Roboto Mono"/>
              </a:rPr>
              <a:t># Profound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sz="800" b="0" i="0">
                <a:solidFill>
                  <a:srgbClr val="C8C8C0"/>
                </a:solidFill>
                <a:latin typeface="Roboto Mono"/>
              </a:rPr>
              <a:t/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sz="800" b="0" i="0">
                <a:solidFill>
                  <a:srgbClr val="C8C8C0"/>
                </a:solidFill>
                <a:latin typeface="Roboto Mono"/>
              </a:rPr>
              <a:t>&gt; AI search visibility platform.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sz="800" b="0" i="0">
                <a:solidFill>
                  <a:srgbClr val="C8C8C0"/>
                </a:solidFill>
                <a:latin typeface="Roboto Mono"/>
              </a:rPr>
              <a:t/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sz="800" b="0" i="0">
                <a:solidFill>
                  <a:srgbClr val="C8C8C0"/>
                </a:solidFill>
                <a:latin typeface="Roboto Mono"/>
              </a:rPr>
              <a:t>## Documentation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sz="800" b="0" i="0">
                <a:solidFill>
                  <a:srgbClr val="C8C8C0"/>
                </a:solidFill>
                <a:latin typeface="Roboto Mono"/>
              </a:rPr>
              <a:t>- [Quickstart](/docs/quickstart): first crawl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sz="800" b="0" i="0">
                <a:solidFill>
                  <a:srgbClr val="C8C8C0"/>
                </a:solidFill>
                <a:latin typeface="Roboto Mono"/>
              </a:rPr>
              <a:t>- [API](/docs/api): REST endpoints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sz="800" b="0" i="0">
                <a:solidFill>
                  <a:srgbClr val="C8C8C0"/>
                </a:solidFill>
                <a:latin typeface="Roboto Mono"/>
              </a:rPr>
              <a:t/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sz="800" b="0" i="0">
                <a:solidFill>
                  <a:srgbClr val="C8C8C0"/>
                </a:solidFill>
                <a:latin typeface="Roboto Mono"/>
              </a:rPr>
              <a:t>## Optional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sz="800" b="0" i="0">
                <a:solidFill>
                  <a:srgbClr val="C8C8C0"/>
                </a:solidFill>
                <a:latin typeface="Roboto Mono"/>
              </a:rPr>
              <a:t>- [Privacy](/legal/privacy):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16052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700" b="0" i="0">
                <a:solidFill>
                  <a:srgbClr val="C8C8C0"/>
                </a:solidFill>
                <a:latin typeface="Helvetica Neue Light"/>
              </a:rPr>
              <a:t>markdown, /llms.txt, one H1 — validated on every render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10312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915400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292608"/>
            <a:ext cx="9144000" cy="0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53035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"/>
              </a:rPr>
              <a:t>Product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58952"/>
            <a:ext cx="8046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0" i="0">
                <a:solidFill>
                  <a:srgbClr val="F3F3F3"/>
                </a:solidFill>
                <a:latin typeface="Helvetica Neue Light"/>
              </a:rPr>
              <a:t>Paste a URL, get a maintained file</a:t>
            </a:r>
          </a:p>
        </p:txBody>
      </p:sp>
      <p:pic>
        <p:nvPicPr>
          <p:cNvPr id="7" name="Picture 6" descr="profou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4636008"/>
            <a:ext cx="1225296" cy="3482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57276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 Light"/>
              </a:rPr>
              <a:t>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2262"/>
            <a:ext cx="3657600" cy="161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crawl → rank → sections → llms.txt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1677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 Light"/>
              </a:rPr>
              <a:t>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1171"/>
            <a:ext cx="3657600" cy="161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graded against the spec, in the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1058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 Light"/>
              </a:rPr>
              <a:t>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80080"/>
            <a:ext cx="3657600" cy="161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daily re-crawl, page-level diffs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79495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 Light"/>
              </a:rPr>
              <a:t>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48989"/>
            <a:ext cx="3657600" cy="161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/s/{siteId}/llms.txt, text/plain</a:t>
            </a:r>
          </a:p>
        </p:txBody>
      </p:sp>
      <p:pic>
        <p:nvPicPr>
          <p:cNvPr id="16" name="Picture 15" descr="gene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767" y="1536192"/>
            <a:ext cx="2818106" cy="2651760"/>
          </a:xfrm>
          <a:prstGeom prst="rect">
            <a:avLst/>
          </a:prstGeom>
          <a:ln w="10125">
            <a:solidFill>
              <a:srgbClr val="333333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4617720" y="4297680"/>
            <a:ext cx="3886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700" b="0" i="0">
                <a:solidFill>
                  <a:srgbClr val="C8C8C0"/>
                </a:solidFill>
                <a:latin typeface="Helvetica Neue Light"/>
              </a:rPr>
              <a:t>tryprofound.com — crawled, grouped, spec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10312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915400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292608"/>
            <a:ext cx="9144000" cy="0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53035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58952"/>
            <a:ext cx="8046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0" i="0">
                <a:solidFill>
                  <a:srgbClr val="F3F3F3"/>
                </a:solidFill>
                <a:latin typeface="Helvetica Neue Light"/>
              </a:rPr>
              <a:t>The core pipeline</a:t>
            </a:r>
          </a:p>
        </p:txBody>
      </p:sp>
      <p:pic>
        <p:nvPicPr>
          <p:cNvPr id="7" name="Picture 6" descr="profou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4636008"/>
            <a:ext cx="1225296" cy="348204"/>
          </a:xfrm>
          <a:prstGeom prst="rect">
            <a:avLst/>
          </a:prstGeom>
        </p:spPr>
      </p:pic>
      <p:pic>
        <p:nvPicPr>
          <p:cNvPr id="8" name="Picture 7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36030"/>
            <a:ext cx="8229600" cy="12314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77639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 Light"/>
              </a:rPr>
              <a:t>Every stage is a pure function over serializable state.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A crawl can pause, persist and resume across serverless requests.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10312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915400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292608"/>
            <a:ext cx="9144000" cy="0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53035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"/>
              </a:rPr>
              <a:t>Beyond the spec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58952"/>
            <a:ext cx="8046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0" i="0">
                <a:solidFill>
                  <a:srgbClr val="F3F3F3"/>
                </a:solidFill>
                <a:latin typeface="Helvetica Neue Light"/>
              </a:rPr>
              <a:t>Two features the brief didn't ask for</a:t>
            </a:r>
          </a:p>
        </p:txBody>
      </p:sp>
      <p:pic>
        <p:nvPicPr>
          <p:cNvPr id="7" name="Picture 6" descr="profou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4636008"/>
            <a:ext cx="1225296" cy="3482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645920"/>
            <a:ext cx="3840480" cy="1600200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101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86968" y="1847088"/>
            <a:ext cx="3438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 b="0" i="0">
                <a:solidFill>
                  <a:srgbClr val="F3F3F3"/>
                </a:solidFill>
                <a:latin typeface="Helvetica Neue Light"/>
              </a:rPr>
              <a:t>AI-readiness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84832"/>
            <a:ext cx="3438144" cy="9784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Six real bot probes, cloaking detection, weighted checks → an A–F grade with a fix per failure.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45736" y="1645920"/>
            <a:ext cx="3840480" cy="1600200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101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946904" y="1847088"/>
            <a:ext cx="3438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 b="0" i="0">
                <a:solidFill>
                  <a:srgbClr val="F3F3F3"/>
                </a:solidFill>
                <a:latin typeface="Helvetica Neue Light"/>
              </a:rPr>
              <a:t>Retrieval 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6904" y="2084832"/>
            <a:ext cx="3438144" cy="9784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Two LLMs, eight questions: can an agent holding only the file reach the right page?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1524853" cy="274320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101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152485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900" b="0" i="0">
                <a:solidFill>
                  <a:srgbClr val="C8C8C0"/>
                </a:solidFill>
                <a:latin typeface="Helvetica Neue Light"/>
              </a:rPr>
              <a:t>valid ≠ reachable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11237" y="3566160"/>
            <a:ext cx="1297716" cy="274320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101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311237" y="3566160"/>
            <a:ext cx="12977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900" b="0" i="0">
                <a:solidFill>
                  <a:srgbClr val="C8C8C0"/>
                </a:solidFill>
                <a:latin typeface="Helvetica Neue Light"/>
              </a:rPr>
              <a:t>valid ≠ useful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5257" y="3566160"/>
            <a:ext cx="2509113" cy="274320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101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755257" y="3566160"/>
            <a:ext cx="250911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900" b="0" i="0">
                <a:solidFill>
                  <a:srgbClr val="C8C8C0"/>
                </a:solidFill>
                <a:latin typeface="Helvetica Neue Light"/>
              </a:rPr>
              <a:t>both are numbers, not opinions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10312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915400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292608"/>
            <a:ext cx="9144000" cy="0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53035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"/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58952"/>
            <a:ext cx="8046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0" i="0">
                <a:solidFill>
                  <a:srgbClr val="F3F3F3"/>
                </a:solidFill>
                <a:latin typeface="Helvetica Neue Light"/>
              </a:rPr>
              <a:t>What I'll show</a:t>
            </a:r>
          </a:p>
        </p:txBody>
      </p:sp>
      <p:pic>
        <p:nvPicPr>
          <p:cNvPr id="7" name="Picture 6" descr="profou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4636008"/>
            <a:ext cx="1225296" cy="3482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600200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 Light"/>
              </a:rPr>
              <a:t>1 — 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69694"/>
            <a:ext cx="3566160" cy="161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paste a domain, watch slices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05685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 Light"/>
              </a:rPr>
              <a:t>2 — Inspect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75178"/>
            <a:ext cx="3566160" cy="161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sections, notes, validation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11169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 Light"/>
              </a:rPr>
              <a:t>3 — 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80663"/>
            <a:ext cx="3566160" cy="161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track, refresh, page-level diff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16655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 Light"/>
              </a:rPr>
              <a:t>4 — Audit + 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86149"/>
            <a:ext cx="3566160" cy="161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grade the domain, score the file</a:t>
            </a:r>
          </a:p>
        </p:txBody>
      </p:sp>
      <p:pic>
        <p:nvPicPr>
          <p:cNvPr id="16" name="Picture 15" descr="monitored-si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600200"/>
            <a:ext cx="3977639" cy="1510950"/>
          </a:xfrm>
          <a:prstGeom prst="rect">
            <a:avLst/>
          </a:prstGeom>
          <a:ln w="10125">
            <a:solidFill>
              <a:srgbClr val="333333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4526280" y="3220878"/>
            <a:ext cx="3977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700" b="0" i="0">
                <a:solidFill>
                  <a:srgbClr val="C8C8C0"/>
                </a:solidFill>
                <a:latin typeface="Helvetica Neue Light"/>
              </a:rPr>
              <a:t>tracked sites, last check, served file URL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5F5F0"/>
                </a:solidFill>
                <a:latin typeface="Roboto Mono"/>
              </a:rPr>
              <a:t>https://llms-txt-nela-taeb.vercel.app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10312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915400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292608"/>
            <a:ext cx="9144000" cy="0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53035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"/>
              </a:rPr>
              <a:t>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58952"/>
            <a:ext cx="8046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0" i="0">
                <a:solidFill>
                  <a:srgbClr val="F3F3F3"/>
                </a:solidFill>
                <a:latin typeface="Helvetica Neue Light"/>
              </a:rPr>
              <a:t>System architecture</a:t>
            </a:r>
          </a:p>
        </p:txBody>
      </p:sp>
      <p:pic>
        <p:nvPicPr>
          <p:cNvPr id="7" name="Picture 6" descr="profou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4636008"/>
            <a:ext cx="1225296" cy="348204"/>
          </a:xfrm>
          <a:prstGeom prst="rect">
            <a:avLst/>
          </a:prstGeom>
        </p:spPr>
      </p:pic>
      <p:pic>
        <p:nvPicPr>
          <p:cNvPr id="8" name="Picture 7" descr="syst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717" y="1371600"/>
            <a:ext cx="6654566" cy="3017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526280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700" b="0" i="0">
                <a:solidFill>
                  <a:srgbClr val="C8C8C0"/>
                </a:solidFill>
                <a:latin typeface="Helvetica Neue Light"/>
              </a:rPr>
              <a:t>Next.js 15 · TypeScript · Vercel functions + cron · Neon Postgres · Vitest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10312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915400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292608"/>
            <a:ext cx="9144000" cy="0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53035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"/>
              </a:rPr>
              <a:t>Deep Dive — Crawl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58952"/>
            <a:ext cx="8046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0" i="0">
                <a:solidFill>
                  <a:srgbClr val="F3F3F3"/>
                </a:solidFill>
                <a:latin typeface="Helvetica Neue Light"/>
              </a:rPr>
              <a:t>Slice-based, resumable crawling</a:t>
            </a:r>
          </a:p>
        </p:txBody>
      </p:sp>
      <p:pic>
        <p:nvPicPr>
          <p:cNvPr id="7" name="Picture 6" descr="profou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4636008"/>
            <a:ext cx="1225296" cy="348204"/>
          </a:xfrm>
          <a:prstGeom prst="rect">
            <a:avLst/>
          </a:prstGeom>
        </p:spPr>
      </p:pic>
      <p:pic>
        <p:nvPicPr>
          <p:cNvPr id="8" name="Picture 7" descr="craw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79614"/>
            <a:ext cx="8229600" cy="13785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749039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 i="0">
                <a:solidFill>
                  <a:srgbClr val="F3F3F3"/>
                </a:solidFill>
                <a:latin typeface="Helvetica Neue Light"/>
              </a:rPr>
              <a:t>Sitemap first, links as fallback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01515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 Light"/>
              </a:rPr>
              <a:t>links still supply nav + inbound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49039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 i="0">
                <a:solidFill>
                  <a:srgbClr val="F3F3F3"/>
                </a:solidFill>
                <a:latin typeface="Helvetica Neue Light"/>
              </a:rPr>
              <a:t>Polite and bounded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01515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 Light"/>
              </a:rPr>
              <a:t>crawl-delay ≤ 2s, concurrency 6, 120 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 i="0">
                <a:solidFill>
                  <a:srgbClr val="F3F3F3"/>
                </a:solidFill>
                <a:latin typeface="Helvetica Neue"/>
              </a:rPr>
              <a:t>Trade-off  </a:t>
            </a:r>
            <a:r>
              <a:rPr sz="900">
                <a:solidFill>
                  <a:srgbClr val="888888"/>
                </a:solidFill>
                <a:latin typeface="Helvetica Neue Light"/>
              </a:rPr>
              <a:t>more state to serialize, but the crawl never dies at the serverless timeout.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10312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915400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292608"/>
            <a:ext cx="9144000" cy="0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53035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"/>
              </a:rPr>
              <a:t>Deep Dive — Extract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58952"/>
            <a:ext cx="8046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0" i="0">
                <a:solidFill>
                  <a:srgbClr val="F3F3F3"/>
                </a:solidFill>
                <a:latin typeface="Helvetica Neue Light"/>
              </a:rPr>
              <a:t>Turning HTML into a page record</a:t>
            </a:r>
          </a:p>
        </p:txBody>
      </p:sp>
      <p:pic>
        <p:nvPicPr>
          <p:cNvPr id="7" name="Picture 6" descr="profou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4636008"/>
            <a:ext cx="1225296" cy="3482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517904"/>
            <a:ext cx="3840480" cy="1115568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101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86968" y="1719072"/>
            <a:ext cx="3438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 b="0" i="0">
                <a:solidFill>
                  <a:srgbClr val="F3F3F3"/>
                </a:solidFill>
                <a:latin typeface="Helvetica Neue Light"/>
              </a:rPr>
              <a:t>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56815"/>
            <a:ext cx="343814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h1 → og:title → &lt;title&gt;, site suffix stripped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45736" y="1517904"/>
            <a:ext cx="3840480" cy="1115568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101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946904" y="1719072"/>
            <a:ext cx="3438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 b="0" i="0">
                <a:solidFill>
                  <a:srgbClr val="F3F3F3"/>
                </a:solidFill>
                <a:latin typeface="Helvetica Neue Light"/>
              </a:rPr>
              <a:t>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6904" y="1956815"/>
            <a:ext cx="343814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meta → og → twitter → JSON-LD → first sentences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79776"/>
            <a:ext cx="3840480" cy="1115568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101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86968" y="2980944"/>
            <a:ext cx="3438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 b="0" i="0">
                <a:solidFill>
                  <a:srgbClr val="F3F3F3"/>
                </a:solidFill>
                <a:latin typeface="Helvetica Neue Light"/>
              </a:rPr>
              <a:t>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218688"/>
            <a:ext cx="343814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canonical URL, normalized; sha content hash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45736" y="2779776"/>
            <a:ext cx="3840480" cy="1115568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101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946904" y="2980944"/>
            <a:ext cx="3438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 b="0" i="0">
                <a:solidFill>
                  <a:srgbClr val="F3F3F3"/>
                </a:solidFill>
                <a:latin typeface="Helvetica Neue Light"/>
              </a:rPr>
              <a:t>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46904" y="3218688"/>
            <a:ext cx="343814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nav membership, inbound links, word count, markdown alternate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069080"/>
            <a:ext cx="7772400" cy="421132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101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0392" y="4197096"/>
            <a:ext cx="7443216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00" b="0" i="0">
                <a:solidFill>
                  <a:srgbClr val="C8C8C0"/>
                </a:solidFill>
                <a:latin typeface="Roboto Mono"/>
              </a:rPr>
              <a:t>&lt;link rel="alternate" type="text/markdown" href="/docs/api.md"&gt;   →   preferred link target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10312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915400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292608"/>
            <a:ext cx="9144000" cy="0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53035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"/>
              </a:rPr>
              <a:t>Deep Dive — Rank &amp;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58952"/>
            <a:ext cx="8046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0" i="0">
                <a:solidFill>
                  <a:srgbClr val="F3F3F3"/>
                </a:solidFill>
                <a:latin typeface="Helvetica Neue Light"/>
              </a:rPr>
              <a:t>Which pages earn a place</a:t>
            </a:r>
          </a:p>
        </p:txBody>
      </p:sp>
      <p:pic>
        <p:nvPicPr>
          <p:cNvPr id="7" name="Picture 6" descr="profou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4636008"/>
            <a:ext cx="1225296" cy="348204"/>
          </a:xfrm>
          <a:prstGeom prst="rect">
            <a:avLst/>
          </a:prstGeom>
        </p:spPr>
      </p:pic>
      <p:pic>
        <p:nvPicPr>
          <p:cNvPr id="8" name="Picture 7" descr="r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657" y="1280160"/>
            <a:ext cx="4774686" cy="2331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749039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 i="0">
                <a:solidFill>
                  <a:srgbClr val="F3F3F3"/>
                </a:solidFill>
                <a:latin typeface="Helvetica Neue Light"/>
              </a:rPr>
              <a:t>Readable formula, not a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01515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 Light"/>
              </a:rPr>
              <a:t>every placement is explainable to a 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49039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 i="0">
                <a:solidFill>
                  <a:srgbClr val="F3F3F3"/>
                </a:solidFill>
                <a:latin typeface="Helvetica Neue Light"/>
              </a:rPr>
              <a:t>Budget forces a choice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01515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 Light"/>
              </a:rPr>
              <a:t>overflow and legal fall into Optional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 i="0">
                <a:solidFill>
                  <a:srgbClr val="F3F3F3"/>
                </a:solidFill>
                <a:latin typeface="Helvetica Neue"/>
              </a:rPr>
              <a:t>Trade-off  </a:t>
            </a:r>
            <a:r>
              <a:rPr sz="900">
                <a:solidFill>
                  <a:srgbClr val="888888"/>
                </a:solidFill>
                <a:latin typeface="Helvetica Neue Light"/>
              </a:rPr>
              <a:t>hand-tuned weights are transparent and free; embeddings would generalise better at a model call per page.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10312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915400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292608"/>
            <a:ext cx="9144000" cy="0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53035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"/>
              </a:rPr>
              <a:t>Deep Dive — Render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58952"/>
            <a:ext cx="8046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0" i="0">
                <a:solidFill>
                  <a:srgbClr val="F3F3F3"/>
                </a:solidFill>
                <a:latin typeface="Helvetica Neue Light"/>
              </a:rPr>
              <a:t>From ranked sections to markdown</a:t>
            </a:r>
          </a:p>
        </p:txBody>
      </p:sp>
      <p:pic>
        <p:nvPicPr>
          <p:cNvPr id="7" name="Picture 6" descr="profou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4636008"/>
            <a:ext cx="1225296" cy="3482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508760"/>
            <a:ext cx="3794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 i="0">
                <a:solidFill>
                  <a:srgbClr val="F3F3F3"/>
                </a:solidFill>
                <a:latin typeface="Helvetica Neue Light"/>
              </a:rPr>
              <a:t>Deterministic document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69745"/>
            <a:ext cx="3794760" cy="153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 b="0" i="0">
                <a:solidFill>
                  <a:srgbClr val="888888"/>
                </a:solidFill>
                <a:latin typeface="Helvetica Neue Light"/>
              </a:rPr>
              <a:t>buildDocument() → renderLlmsTxt(): one shape, one writer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78939"/>
            <a:ext cx="3794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 i="0">
                <a:solidFill>
                  <a:srgbClr val="F3F3F3"/>
                </a:solidFill>
                <a:latin typeface="Helvetica Neue Light"/>
              </a:rPr>
              <a:t>Notes are the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39923"/>
            <a:ext cx="3794760" cy="153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 b="0" i="0">
                <a:solidFill>
                  <a:srgbClr val="888888"/>
                </a:solidFill>
                <a:latin typeface="Helvetica Neue Light"/>
              </a:rPr>
              <a:t>extracted description, trimmed to a single clause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49117"/>
            <a:ext cx="3794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 i="0">
                <a:solidFill>
                  <a:srgbClr val="F3F3F3"/>
                </a:solidFill>
                <a:latin typeface="Helvetica Neue Light"/>
              </a:rPr>
              <a:t>llms-full.txt on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10102"/>
            <a:ext cx="3794760" cy="153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 b="0" i="0">
                <a:solidFill>
                  <a:srgbClr val="888888"/>
                </a:solidFill>
                <a:latin typeface="Helvetica Neue Light"/>
              </a:rPr>
              <a:t>same structure, page text inlined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1508760"/>
            <a:ext cx="3794760" cy="1081532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101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873752" y="1636776"/>
            <a:ext cx="3465576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00" b="0" i="0">
                <a:solidFill>
                  <a:srgbClr val="C8C8C0"/>
                </a:solidFill>
                <a:latin typeface="Roboto Mono"/>
              </a:rPr>
              <a:t>## API Reference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sz="800" b="0" i="0">
                <a:solidFill>
                  <a:srgbClr val="C8C8C0"/>
                </a:solidFill>
                <a:latin typeface="Roboto Mono"/>
              </a:rPr>
              <a:t>- [REST API](/docs/api): endpoints,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sz="800" b="0" i="0">
                <a:solidFill>
                  <a:srgbClr val="C8C8C0"/>
                </a:solidFill>
                <a:latin typeface="Roboto Mono"/>
              </a:rPr>
              <a:t>  auth and rate limits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sz="800" b="0" i="0">
                <a:solidFill>
                  <a:srgbClr val="C8C8C0"/>
                </a:solidFill>
                <a:latin typeface="Roboto Mono"/>
              </a:rPr>
              <a:t>- [Webhooks](/docs/webhooks): event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sz="800" b="0" i="0">
                <a:solidFill>
                  <a:srgbClr val="C8C8C0"/>
                </a:solidFill>
                <a:latin typeface="Roboto Mono"/>
              </a:rPr>
              <a:t>  payloads and retries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6110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 i="0">
                <a:solidFill>
                  <a:srgbClr val="F3F3F3"/>
                </a:solidFill>
                <a:latin typeface="Helvetica Neue"/>
              </a:rPr>
              <a:t>Trade-off  </a:t>
            </a:r>
            <a:r>
              <a:rPr sz="900">
                <a:solidFill>
                  <a:srgbClr val="888888"/>
                </a:solidFill>
                <a:latin typeface="Helvetica Neue Light"/>
              </a:rPr>
              <a:t>heuristic notes are instant and safe; LLM notes read better but need a key — and never add a URL.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10312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915400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292608"/>
            <a:ext cx="9144000" cy="0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53035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"/>
              </a:rPr>
              <a:t>Deep Dive — Validate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58952"/>
            <a:ext cx="8046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0" i="0">
                <a:solidFill>
                  <a:srgbClr val="F3F3F3"/>
                </a:solidFill>
                <a:latin typeface="Helvetica Neue Light"/>
              </a:rPr>
              <a:t>Grading the exact bytes we emit</a:t>
            </a:r>
          </a:p>
        </p:txBody>
      </p:sp>
      <p:pic>
        <p:nvPicPr>
          <p:cNvPr id="7" name="Picture 6" descr="profou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4636008"/>
            <a:ext cx="1225296" cy="3482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572768"/>
            <a:ext cx="3840480" cy="1234440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101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86968" y="1773936"/>
            <a:ext cx="3438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 b="0" i="0">
                <a:solidFill>
                  <a:srgbClr val="F3F3F3"/>
                </a:solidFill>
                <a:latin typeface="Helvetica Neue Light"/>
              </a:rPr>
              <a:t>Re-parse, don't 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11680"/>
            <a:ext cx="343814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the checker reads the rendered text, not the builder's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45736" y="1572768"/>
            <a:ext cx="3840480" cy="1234440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101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946904" y="1773936"/>
            <a:ext cx="3438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 b="0" i="0">
                <a:solidFill>
                  <a:srgbClr val="F3F3F3"/>
                </a:solidFill>
                <a:latin typeface="Helvetica Neue Light"/>
              </a:rPr>
              <a:t>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6904" y="2011680"/>
            <a:ext cx="343814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missing/duplicate H1, content before title, malformed links, H3+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90088"/>
            <a:ext cx="3840480" cy="1234440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101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86968" y="3191256"/>
            <a:ext cx="3438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 b="0" i="0">
                <a:solidFill>
                  <a:srgbClr val="F3F3F3"/>
                </a:solidFill>
                <a:latin typeface="Helvetica Neue Light"/>
              </a:rPr>
              <a:t>Warnings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429000"/>
            <a:ext cx="343814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duplicate URLs, missing summary, links without notes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45736" y="2990088"/>
            <a:ext cx="3840480" cy="1234440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101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946904" y="3191256"/>
            <a:ext cx="3438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 b="0" i="0">
                <a:solidFill>
                  <a:srgbClr val="F3F3F3"/>
                </a:solidFill>
                <a:latin typeface="Helvetica Neue Light"/>
              </a:rPr>
              <a:t>One function, three callers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46904" y="3429000"/>
            <a:ext cx="343814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generator UI, POST /api/validate, the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6110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 i="0">
                <a:solidFill>
                  <a:srgbClr val="F3F3F3"/>
                </a:solidFill>
                <a:latin typeface="Helvetica Neue"/>
              </a:rPr>
              <a:t>Trade-off  </a:t>
            </a:r>
            <a:r>
              <a:rPr sz="900">
                <a:solidFill>
                  <a:srgbClr val="888888"/>
                </a:solidFill>
                <a:latin typeface="Helvetica Neue Light"/>
              </a:rPr>
              <a:t>re-parsing costs milliseconds and buys an independent check on the bytes we ship.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10312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915400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292608"/>
            <a:ext cx="9144000" cy="0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53035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"/>
              </a:rPr>
              <a:t>Deep Dive —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58952"/>
            <a:ext cx="8046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0" i="0">
                <a:solidFill>
                  <a:srgbClr val="F3F3F3"/>
                </a:solidFill>
                <a:latin typeface="Helvetica Neue Light"/>
              </a:rPr>
              <a:t>Keeping the file current</a:t>
            </a:r>
          </a:p>
        </p:txBody>
      </p:sp>
      <p:pic>
        <p:nvPicPr>
          <p:cNvPr id="7" name="Picture 6" descr="profou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4636008"/>
            <a:ext cx="1225296" cy="348204"/>
          </a:xfrm>
          <a:prstGeom prst="rect">
            <a:avLst/>
          </a:prstGeom>
        </p:spPr>
      </p:pic>
      <p:pic>
        <p:nvPicPr>
          <p:cNvPr id="8" name="Picture 7" descr="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17667"/>
            <a:ext cx="8229600" cy="11596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31920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700" b="0" i="0">
                <a:solidFill>
                  <a:srgbClr val="C8C8C0"/>
                </a:solidFill>
                <a:latin typeface="Helvetica Neue Light"/>
              </a:rPr>
              <a:t>one refreshSite() behind both the daily cron and the manual button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6110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 i="0">
                <a:solidFill>
                  <a:srgbClr val="F3F3F3"/>
                </a:solidFill>
                <a:latin typeface="Helvetica Neue"/>
              </a:rPr>
              <a:t>Trade-off  </a:t>
            </a:r>
            <a:r>
              <a:rPr sz="900">
                <a:solidFill>
                  <a:srgbClr val="888888"/>
                </a:solidFill>
                <a:latin typeface="Helvetica Neue Light"/>
              </a:rPr>
              <a:t>hash diffing makes 'nothing changed' nearly free, but a formatting-only edit is invisible to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10312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915400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292608"/>
            <a:ext cx="9144000" cy="0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53035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"/>
              </a:rPr>
              <a:t>Deep Dive — Persistence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58952"/>
            <a:ext cx="8046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0" i="0">
                <a:solidFill>
                  <a:srgbClr val="F3F3F3"/>
                </a:solidFill>
                <a:latin typeface="Helvetica Neue Light"/>
              </a:rPr>
              <a:t>Two stores, one interface</a:t>
            </a:r>
          </a:p>
        </p:txBody>
      </p:sp>
      <p:pic>
        <p:nvPicPr>
          <p:cNvPr id="7" name="Picture 6" descr="profou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4636008"/>
            <a:ext cx="1225296" cy="348204"/>
          </a:xfrm>
          <a:prstGeom prst="rect">
            <a:avLst/>
          </a:prstGeom>
        </p:spPr>
      </p:pic>
      <p:pic>
        <p:nvPicPr>
          <p:cNvPr id="8" name="Picture 7" descr="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55195"/>
            <a:ext cx="4846320" cy="9701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0" y="160020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 i="0">
                <a:solidFill>
                  <a:srgbClr val="F3F3F3"/>
                </a:solidFill>
                <a:latin typeface="Helvetica Neue Light"/>
              </a:rPr>
              <a:t>Zero-config default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852676"/>
            <a:ext cx="3017520" cy="289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 Light"/>
              </a:rPr>
              <a:t>no DATABASE_URL → in-memory; the app still runs end to 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361438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 i="0">
                <a:solidFill>
                  <a:srgbClr val="F3F3F3"/>
                </a:solidFill>
                <a:latin typeface="Helvetica Neue Light"/>
              </a:rPr>
              <a:t>Schema on first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613914"/>
            <a:ext cx="3017520" cy="1446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 Light"/>
              </a:rPr>
              <a:t>no migration step to run before a 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978023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 i="0">
                <a:solidFill>
                  <a:srgbClr val="F3F3F3"/>
                </a:solidFill>
                <a:latin typeface="Helvetica Neue Light"/>
              </a:rPr>
              <a:t>Jobs are state, not threads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230499"/>
            <a:ext cx="3017520" cy="289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 Light"/>
              </a:rPr>
              <a:t>a crawl in progress is a row, so any instance can advance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6110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 i="0">
                <a:solidFill>
                  <a:srgbClr val="F3F3F3"/>
                </a:solidFill>
                <a:latin typeface="Helvetica Neue"/>
              </a:rPr>
              <a:t>Trade-off  </a:t>
            </a:r>
            <a:r>
              <a:rPr sz="900">
                <a:solidFill>
                  <a:srgbClr val="888888"/>
                </a:solidFill>
                <a:latin typeface="Helvetica Neue Light"/>
              </a:rPr>
              <a:t>one interface keeps local runs and CI dependency-free, at the cost of writing every query twice.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10312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915400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292608"/>
            <a:ext cx="9144000" cy="0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53035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"/>
              </a:rPr>
              <a:t>Beyond Spec —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58952"/>
            <a:ext cx="8046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0" i="0">
                <a:solidFill>
                  <a:srgbClr val="F3F3F3"/>
                </a:solidFill>
                <a:latin typeface="Helvetica Neue Light"/>
              </a:rPr>
              <a:t>How an answer engine sees the domain</a:t>
            </a:r>
          </a:p>
        </p:txBody>
      </p:sp>
      <p:pic>
        <p:nvPicPr>
          <p:cNvPr id="7" name="Picture 6" descr="profou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4636008"/>
            <a:ext cx="1225296" cy="348204"/>
          </a:xfrm>
          <a:prstGeom prst="rect">
            <a:avLst/>
          </a:prstGeom>
        </p:spPr>
      </p:pic>
      <p:pic>
        <p:nvPicPr>
          <p:cNvPr id="8" name="Picture 7" descr="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87542"/>
            <a:ext cx="8229600" cy="17626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749039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 i="0">
                <a:solidFill>
                  <a:srgbClr val="F3F3F3"/>
                </a:solidFill>
                <a:latin typeface="Helvetica Neue Light"/>
              </a:rPr>
              <a:t>Weighted score → A–F grade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01515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 Light"/>
              </a:rPr>
              <a:t>every failing check ships the concrete 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49039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 i="0">
                <a:solidFill>
                  <a:srgbClr val="F3F3F3"/>
                </a:solidFill>
                <a:latin typeface="Helvetica Neue Light"/>
              </a:rPr>
              <a:t>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01515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 Light"/>
              </a:rPr>
              <a:t>why a brand is invisible, and what to change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 i="0">
                <a:solidFill>
                  <a:srgbClr val="F3F3F3"/>
                </a:solidFill>
                <a:latin typeface="Helvetica Neue"/>
              </a:rPr>
              <a:t>Trade-off  </a:t>
            </a:r>
            <a:r>
              <a:rPr sz="900">
                <a:solidFill>
                  <a:srgbClr val="888888"/>
                </a:solidFill>
                <a:latin typeface="Helvetica Neue Light"/>
              </a:rPr>
              <a:t>live bot probes cost seconds and politeness budget, so the audit is opt-in.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10312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915400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292608"/>
            <a:ext cx="9144000" cy="0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53035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"/>
              </a:rPr>
              <a:t>Beyond Spec — 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58952"/>
            <a:ext cx="8046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0" i="0">
                <a:solidFill>
                  <a:srgbClr val="F3F3F3"/>
                </a:solidFill>
                <a:latin typeface="Helvetica Neue Light"/>
              </a:rPr>
              <a:t>Is the file actually usable?</a:t>
            </a:r>
          </a:p>
        </p:txBody>
      </p:sp>
      <p:pic>
        <p:nvPicPr>
          <p:cNvPr id="7" name="Picture 6" descr="profou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4636008"/>
            <a:ext cx="1225296" cy="348204"/>
          </a:xfrm>
          <a:prstGeom prst="rect">
            <a:avLst/>
          </a:prstGeom>
        </p:spPr>
      </p:pic>
      <p:pic>
        <p:nvPicPr>
          <p:cNvPr id="8" name="Picture 7" descr="e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67660"/>
            <a:ext cx="8229599" cy="1202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749039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 i="0">
                <a:solidFill>
                  <a:srgbClr val="F3F3F3"/>
                </a:solidFill>
                <a:latin typeface="Helvetica Neue Light"/>
              </a:rPr>
              <a:t>Ids cross the wire, not URLs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01515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 Light"/>
              </a:rPr>
              <a:t>a hallucinated answer misses instead of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49039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 i="0">
                <a:solidFill>
                  <a:srgbClr val="F3F3F3"/>
                </a:solidFill>
                <a:latin typeface="Helvetica Neue Light"/>
              </a:rPr>
              <a:t>Misses are actionable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01515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 Light"/>
              </a:rPr>
              <a:t>names the note that failed to disambiguate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 i="0">
                <a:solidFill>
                  <a:srgbClr val="F3F3F3"/>
                </a:solidFill>
                <a:latin typeface="Helvetica Neue"/>
              </a:rPr>
              <a:t>Trade-off  </a:t>
            </a:r>
            <a:r>
              <a:rPr sz="900">
                <a:solidFill>
                  <a:srgbClr val="888888"/>
                </a:solidFill>
                <a:latin typeface="Helvetica Neue Light"/>
              </a:rPr>
              <a:t>two model calls per run cost money and vary slightly, but eight questions still catch vague notes.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10312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915400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292608"/>
            <a:ext cx="9144000" cy="0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53035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"/>
              </a:rPr>
              <a:t>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58952"/>
            <a:ext cx="8046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0" i="0">
                <a:solidFill>
                  <a:srgbClr val="F3F3F3"/>
                </a:solidFill>
                <a:latin typeface="Helvetica Neue Light"/>
              </a:rPr>
              <a:t>Trade-offs I'd defend</a:t>
            </a:r>
          </a:p>
        </p:txBody>
      </p:sp>
      <p:pic>
        <p:nvPicPr>
          <p:cNvPr id="7" name="Picture 6" descr="profou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4636008"/>
            <a:ext cx="1225296" cy="3482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" y="149961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1481328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 i="0">
                <a:solidFill>
                  <a:srgbClr val="F3F3F3"/>
                </a:solidFill>
                <a:latin typeface="Helvetica Neue Light"/>
              </a:rPr>
              <a:t>Slices over one long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1776984"/>
            <a:ext cx="7132320" cy="153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 b="0" i="0">
                <a:solidFill>
                  <a:srgbClr val="888888"/>
                </a:solidFill>
                <a:latin typeface="Helvetica Neue Light"/>
              </a:rPr>
              <a:t>survives the timeout; costs serialized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09473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9576" y="2076450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 i="0">
                <a:solidFill>
                  <a:srgbClr val="F3F3F3"/>
                </a:solidFill>
                <a:latin typeface="Helvetica Neue Light"/>
              </a:rPr>
              <a:t>Heuristics first, LLM optional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576" y="2372106"/>
            <a:ext cx="7132320" cy="153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 b="0" i="0">
                <a:solidFill>
                  <a:srgbClr val="888888"/>
                </a:solidFill>
                <a:latin typeface="Helvetica Neue Light"/>
              </a:rPr>
              <a:t>always valid without a key; the model only relabels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68986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9576" y="2671572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 i="0">
                <a:solidFill>
                  <a:srgbClr val="F3F3F3"/>
                </a:solidFill>
                <a:latin typeface="Helvetica Neue Light"/>
              </a:rPr>
              <a:t>Hash diffing over re-render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6" y="2967228"/>
            <a:ext cx="7132320" cy="153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 b="0" i="0">
                <a:solidFill>
                  <a:srgbClr val="888888"/>
                </a:solidFill>
                <a:latin typeface="Helvetica Neue Light"/>
              </a:rPr>
              <a:t>cheap no-ops; misses formatting-only edits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2849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9576" y="3266694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 i="0">
                <a:solidFill>
                  <a:srgbClr val="F3F3F3"/>
                </a:solidFill>
                <a:latin typeface="Helvetica Neue Light"/>
              </a:rPr>
              <a:t>Audit and eval opt-in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9576" y="3562350"/>
            <a:ext cx="7132320" cy="153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 b="0" i="0">
                <a:solidFill>
                  <a:srgbClr val="888888"/>
                </a:solidFill>
                <a:latin typeface="Helvetica Neue Light"/>
              </a:rPr>
              <a:t>keeps generation fast; two extra clicks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38801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9576" y="3861816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 i="0">
                <a:solidFill>
                  <a:srgbClr val="F3F3F3"/>
                </a:solidFill>
                <a:latin typeface="Helvetica Neue Light"/>
              </a:rPr>
              <a:t>Interface over two stores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6" y="4157472"/>
            <a:ext cx="7132320" cy="153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 b="0" i="0">
                <a:solidFill>
                  <a:srgbClr val="888888"/>
                </a:solidFill>
                <a:latin typeface="Helvetica Neue Light"/>
              </a:rPr>
              <a:t>zero-config and testable; every query written twice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10312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915400" y="0"/>
            <a:ext cx="0" cy="5138928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292608"/>
            <a:ext cx="9144000" cy="0"/>
          </a:xfrm>
          <a:prstGeom prst="line">
            <a:avLst/>
          </a:prstGeom>
          <a:ln w="9525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53035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 i="0">
                <a:solidFill>
                  <a:srgbClr val="888888"/>
                </a:solidFill>
                <a:latin typeface="Helvetica Neue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58952"/>
            <a:ext cx="8046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0" i="0">
                <a:solidFill>
                  <a:srgbClr val="F3F3F3"/>
                </a:solidFill>
                <a:latin typeface="Helvetica Neue Light"/>
              </a:rPr>
              <a:t>What I'd build next</a:t>
            </a:r>
          </a:p>
        </p:txBody>
      </p:sp>
      <p:pic>
        <p:nvPicPr>
          <p:cNvPr id="7" name="Picture 6" descr="profou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4636008"/>
            <a:ext cx="1225296" cy="3482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" y="14356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1417320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 i="0">
                <a:solidFill>
                  <a:srgbClr val="F3F3F3"/>
                </a:solidFill>
                <a:latin typeface="Helvetica Neue Light"/>
              </a:rPr>
              <a:t>Headless rendering for JS-only sites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1712976"/>
            <a:ext cx="7132320" cy="153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 b="0" i="0">
                <a:solidFill>
                  <a:srgbClr val="888888"/>
                </a:solidFill>
                <a:latin typeface="Helvetica Neue Light"/>
              </a:rPr>
              <a:t>fall back to a browser on thin pages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19758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9576" y="1957578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 i="0">
                <a:solidFill>
                  <a:srgbClr val="F3F3F3"/>
                </a:solidFill>
                <a:latin typeface="Helvetica Neue Light"/>
              </a:rPr>
              <a:t>Embeddings for ranking and sectioning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576" y="2253234"/>
            <a:ext cx="7132320" cy="153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 b="0" i="0">
                <a:solidFill>
                  <a:srgbClr val="888888"/>
                </a:solidFill>
                <a:latin typeface="Helvetica Neue Light"/>
              </a:rPr>
              <a:t>name sections from content, not URL paths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5161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9576" y="2497836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 i="0">
                <a:solidFill>
                  <a:srgbClr val="F3F3F3"/>
                </a:solidFill>
                <a:latin typeface="Helvetica Neue Light"/>
              </a:rPr>
              <a:t>Incremental recrawl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6" y="2793492"/>
            <a:ext cx="7132320" cy="153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 b="0" i="0">
                <a:solidFill>
                  <a:srgbClr val="888888"/>
                </a:solidFill>
                <a:latin typeface="Helvetica Neue Light"/>
              </a:rPr>
              <a:t>ETag / If-Modified-Since, per-page scheduling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0563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9576" y="3038094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 i="0">
                <a:solidFill>
                  <a:srgbClr val="F3F3F3"/>
                </a:solidFill>
                <a:latin typeface="Helvetica Neue Light"/>
              </a:rPr>
              <a:t>Event-driven refresh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9576" y="3333750"/>
            <a:ext cx="7132320" cy="153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 b="0" i="0">
                <a:solidFill>
                  <a:srgbClr val="888888"/>
                </a:solidFill>
                <a:latin typeface="Helvetica Neue Light"/>
              </a:rPr>
              <a:t>sitemap lastmod or a deploy webhook — minutes, not hours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359664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F3F3F3"/>
                </a:solidFill>
                <a:latin typeface="Helvetica Neue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9576" y="3578352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 i="0">
                <a:solidFill>
                  <a:srgbClr val="F3F3F3"/>
                </a:solidFill>
                <a:latin typeface="Helvetica Neue Light"/>
              </a:rPr>
              <a:t>Score trends over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6" y="3874008"/>
            <a:ext cx="7132320" cy="153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 b="0" i="0">
                <a:solidFill>
                  <a:srgbClr val="888888"/>
                </a:solidFill>
                <a:latin typeface="Helvetica Neue Light"/>
              </a:rPr>
              <a:t>audit and eval are both better as a time series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42062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 i="0">
                <a:solidFill>
                  <a:srgbClr val="F5F5F0"/>
                </a:solidFill>
                <a:latin typeface="Roboto Mono"/>
              </a:rPr>
              <a:t>https://llms-txt-nela-taeb.vercel.app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950" b="0" i="0">
                <a:solidFill>
                  <a:srgbClr val="888888"/>
                </a:solidFill>
                <a:latin typeface="Helvetica Neue Light"/>
              </a:rPr>
              <a:t>Nela Taeb —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