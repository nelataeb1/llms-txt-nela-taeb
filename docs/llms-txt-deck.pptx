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38328" y="54864"/>
            <a:ext cx="0" cy="480060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769096" y="54864"/>
            <a:ext cx="0" cy="480060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4873752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6012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000" b="0">
                <a:solidFill>
                  <a:srgbClr val="F3F3F3"/>
                </a:solidFill>
                <a:latin typeface="Helvetica Neue"/>
              </a:rPr>
              <a:t>Automated llms.txt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7335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600" b="0">
                <a:solidFill>
                  <a:srgbClr val="F3F3F3"/>
                </a:solidFill>
                <a:latin typeface="Helvetica Neue Light"/>
              </a:rPr>
              <a:t>Making a site legible to answer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C8C8C0"/>
                </a:solidFill>
                <a:latin typeface="Roboto Mono"/>
              </a:rPr>
              <a:t>https://llms-txt-nela-taeb.vercel.app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84048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F3F3F3"/>
                </a:solidFill>
                <a:latin typeface="Helvetica Neue Light"/>
              </a:rPr>
              <a:t>Nela Taeb  |  Profound — technical interview</a:t>
            </a:r>
          </a:p>
        </p:txBody>
      </p:sp>
      <p:pic>
        <p:nvPicPr>
          <p:cNvPr id="9" name="Picture 8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840480"/>
            <a:ext cx="1929384" cy="5482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AI answers are the new front page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554480"/>
            <a:ext cx="3840480" cy="122529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1755648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Discovery moved to answer engines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975104"/>
            <a:ext cx="34381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ChatGPT and Perplexity answer the question instead of returning ten links. If the model cannot read your site, the brand is simply absent from the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5736" y="1554480"/>
            <a:ext cx="3840480" cy="122529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1755648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HTML is a bad format for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6904" y="1975104"/>
            <a:ext cx="34381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Nav, cookie banners and JS shells bury the content. An agent burns its context budget before it reaches the page that mattered.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53512"/>
            <a:ext cx="3840480" cy="122529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6968" y="315468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llms.txt is the proposed 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374136"/>
            <a:ext cx="34381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Like robots.txt, but curated: one markdown index of the pages an agent should read, per the llmstxt.org spec.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45736" y="2953512"/>
            <a:ext cx="3840480" cy="122529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46904" y="315468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Hand-authoring does not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6904" y="3374136"/>
            <a:ext cx="34381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Someone must pick and describe the right pages, then keep the file in sync every time docs, pricing or product pages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Paste a URL, get a maintained llms.txt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55448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Generate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3974"/>
            <a:ext cx="41148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Crawls the site, extracts metadata, ranks and groups pages, renders llms.txt plus an optional llms-full.txt.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67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36266"/>
            <a:ext cx="41148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Every file is re-parsed and checked against the llmstxt.org structure, in the UI next to the document.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7906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48558"/>
            <a:ext cx="41148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A tracked site is re-crawled daily and diffed page by page; a snapshot is stored only when something 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913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60850"/>
            <a:ext cx="41148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The latest file is served as text/plain at /s/{siteId}/llms.txt — one stable URL to proxy.</a:t>
            </a:r>
          </a:p>
        </p:txBody>
      </p:sp>
      <p:pic>
        <p:nvPicPr>
          <p:cNvPr id="16" name="Picture 15" descr="gene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517904"/>
            <a:ext cx="3337560" cy="2136038"/>
          </a:xfrm>
          <a:prstGeom prst="rect">
            <a:avLst/>
          </a:prstGeom>
          <a:ln w="10125">
            <a:solidFill>
              <a:srgbClr val="33333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120640" y="3749039"/>
            <a:ext cx="3337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tryprofound.com — 120 pages crawled, spec compliant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One pipeline, seven stages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URL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entry point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92224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224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Crawl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robots + sitemap + links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45920" y="2267712"/>
            <a:ext cx="146304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17520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17520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Extract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title, meta, canonical, 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71215" y="2267712"/>
            <a:ext cx="146305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42816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42816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Classify &amp; rank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kind + score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96511" y="2267712"/>
            <a:ext cx="146305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68112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68112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Group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sections + link budget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21807" y="2267712"/>
            <a:ext cx="146305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93407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93407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Render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llms.txt (+ full)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47103" y="2267712"/>
            <a:ext cx="146304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18703" y="1874519"/>
            <a:ext cx="1078992" cy="78638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918703" y="1874519"/>
            <a:ext cx="10789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Validate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spec check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72399" y="2267712"/>
            <a:ext cx="146304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922776" y="3246120"/>
            <a:ext cx="1737360" cy="5486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922776" y="32461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LLM enrichment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optional, gpt-4o-mini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791455" y="2660904"/>
            <a:ext cx="0" cy="585216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922776" y="3840480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relabels pages it was given — never invents URLs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224528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Stateless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494022"/>
            <a:ext cx="786384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Each stage is a pure function over serializable state, so a crawl can be paused, persisted and resumed across serverless requests.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Technical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Crawl engine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463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Slice-based, resumable crawling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2534"/>
            <a:ext cx="77724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crawlSlice() fetches a bounded batch inside a 20s budget and returns new state, so the crawl survives serverless timeouts and shows progress instead of hanging.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38756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Sitemap-first, link crawl as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08250"/>
            <a:ext cx="777240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Sitemaps give breadth cheaply; link crawling covers sites without one and supplies the nav and inbound-link signals used for ranking.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4472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Polite and bounded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83965"/>
            <a:ext cx="777240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robots.txt is honoured by default (crawl-delay capped at 2s), concurrency 6, default budget 120 pages.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28516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Aggressive dropping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98011"/>
            <a:ext cx="777240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Off-site redirects, non-HTML responses, noindex pages and out-of-scope URLs never reach the index.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60520"/>
            <a:ext cx="7772400" cy="598932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0392" y="4288536"/>
            <a:ext cx="74432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state = await initCrawl(url, options)</a:t>
            </a:r>
          </a:p>
          <a:p>
            <a:pPr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while (!state.done) state = await crawlSlice(state, 20_000)  // one HTTP request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Technical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Ranking &amp; grouping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481328"/>
            <a:ext cx="3840480" cy="2926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1682496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scorePage()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938528"/>
            <a:ext cx="34381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page kind — home 100, docs 40, api 38, legal 2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depth penalty (-8 per level)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inbound links (capped) + nav membership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sitemap presence, markdown alternate, description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content volume, with penalties for pagination and deep paths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5736" y="1481328"/>
            <a:ext cx="3703320" cy="2926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168249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groupPages() sectioning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6904" y="1938528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sections by page kind in a fixed order: Overview, Documentation, API Reference, Guides…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link budgets — 25 per section, 120 total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large Other buckets split by top-level path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legal and overflow pages fall into the trailing Optional section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·  markdown alternates preferred as link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26280"/>
            <a:ext cx="7772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Optional is the spec's escape hatch: an agent with a small context window can skip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Technical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Validation against the spec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55448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The renderer and the checker are separate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32483"/>
            <a:ext cx="7772400" cy="34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validateLlmsTxt() re-parses the rendered text rather than trusting the builder, so the UI grades the exact bytes a consumer would download.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65451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Structure the spec requires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454"/>
            <a:ext cx="7772400" cy="170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One H1, an optional blockquote summary, free-form detail blocks, then H2 sections of markdown link lists.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6242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Errors vs. warnings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84245"/>
            <a:ext cx="7772400" cy="34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Errors: missing or duplicate H1, content before the title, malformed link lines, H3+ headings. Warnings: duplicate URLs, missing summary or notes.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7213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Reused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95216"/>
            <a:ext cx="7772400" cy="170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The same function backs POST /api/validate, the generator UI and the audit's check of an existing /llms.txt.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Automated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Monitoring &amp; change detection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481328"/>
            <a:ext cx="1417320" cy="60350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481328"/>
            <a:ext cx="1417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Vercel cron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daily, 03:00 UTC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1481328"/>
            <a:ext cx="1417320" cy="60350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58568" y="1481328"/>
            <a:ext cx="1417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refreshSite()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per tracked site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481328"/>
            <a:ext cx="1417320" cy="60350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50208" y="1481328"/>
            <a:ext cx="1417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Re-crawl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same options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41848" y="1481328"/>
            <a:ext cx="1417320" cy="60350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41848" y="1481328"/>
            <a:ext cx="1417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diffPages()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added/removed/changed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1481328"/>
            <a:ext cx="1280160" cy="603504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33488" y="1481328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snapshotHash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sha of all pages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84248" y="178308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75888" y="178308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67528" y="178308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59168" y="178308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074920" y="2487168"/>
            <a:ext cx="1600200" cy="5486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2487168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hash changed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write snapshot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13448" y="2487168"/>
            <a:ext cx="1600200" cy="5486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2487168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hash equal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skip write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55279" y="2084832"/>
            <a:ext cx="0" cy="402336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52160" y="2084832"/>
            <a:ext cx="0" cy="402336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74920" y="3108960"/>
            <a:ext cx="3538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GET /s/{siteId}/llms.txt always serves the latest snapshot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 b="0">
                <a:solidFill>
                  <a:srgbClr val="F3F3F3"/>
                </a:solidFill>
                <a:latin typeface="Helvetica Neue Light"/>
              </a:rPr>
              <a:t>Diffs are page-level, not file-level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52876"/>
            <a:ext cx="7772400" cy="289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Each page carries a content hash, so a refresh reports exactly which URLs were added, removed or edited — and what moved in the title or description.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33622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 b="0">
                <a:solidFill>
                  <a:srgbClr val="F3F3F3"/>
                </a:solidFill>
                <a:latin typeface="Helvetica Neue Light"/>
              </a:rPr>
              <a:t>Snapshots are written only on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86097"/>
            <a:ext cx="7772400" cy="1446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History stays readable and storage small; page text is dropped from stored snapshots because only llms-full.txt needs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32219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 b="0">
                <a:solidFill>
                  <a:srgbClr val="F3F3F3"/>
                </a:solidFill>
                <a:latin typeface="Helvetica Neue Light"/>
              </a:rPr>
              <a:t>One code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574666"/>
            <a:ext cx="7772400" cy="1446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The manual Refresh button and the daily cron job both call refreshSite().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Automated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Monitoring in the UI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pic>
        <p:nvPicPr>
          <p:cNvPr id="8" name="Picture 7" descr="site-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3931920" cy="2201875"/>
          </a:xfrm>
          <a:prstGeom prst="rect">
            <a:avLst/>
          </a:prstGeom>
          <a:ln w="10125">
            <a:solidFill>
              <a:srgbClr val="33333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3886200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Snapshot history: what changed, when</a:t>
            </a:r>
          </a:p>
        </p:txBody>
      </p:sp>
      <p:pic>
        <p:nvPicPr>
          <p:cNvPr id="10" name="Picture 9" descr="monitored-si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554480"/>
            <a:ext cx="3931920" cy="1100938"/>
          </a:xfrm>
          <a:prstGeom prst="rect">
            <a:avLst/>
          </a:prstGeom>
          <a:ln w="10125">
            <a:solidFill>
              <a:srgbClr val="33333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754880" y="2834640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Tracked sites, last check and the served file URL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Beyond spec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AI-readiness audit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3716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Grades a domain the way an answer engine sees it — six real bot probes, not a lint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19072"/>
            <a:ext cx="3794760" cy="113385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1920240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Per-bot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39696"/>
            <a:ext cx="3392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GPTBot, OAI-SearchBot, ChatGPT-User, ClaudeBot, PerplexityBot and Google-Extended are each evaluated against robots.txt, then fetch the entry page with their own UA.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0016" y="1719072"/>
            <a:ext cx="3794760" cy="113385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901184" y="1920240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Cloaking &amp; WAF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1184" y="2139696"/>
            <a:ext cx="3392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Body size per bot is compared with a browser-like baseline, catching challenge pages and JS stubs that a normal crawl never sees.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08376"/>
            <a:ext cx="3794760" cy="113385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3209544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Content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429000"/>
            <a:ext cx="3392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Sitemap coverage, missing descriptions, thin and duplicate pages, markdown alternates, canonical and server-rendered content.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3008376"/>
            <a:ext cx="3794760" cy="1133856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901184" y="3209544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Existing /llms.txt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3429000"/>
            <a:ext cx="3392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Fetched, validated and compared against the fresh crawl: stale links and pages the live file never mentions.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 b="0">
                <a:solidFill>
                  <a:srgbClr val="F3F3F3"/>
                </a:solidFill>
                <a:latin typeface="Helvetica Neue Light"/>
              </a:rPr>
              <a:t>Weighted score → A–F grade (A ≥ 90, F &lt; 45). Every failing check ships a concrete fix.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Use case: shows a brand exactly why it is invisible to answer engines, and what to change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Beyond spec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Audit output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pic>
        <p:nvPicPr>
          <p:cNvPr id="8" name="Picture 7" descr="ai-readi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463040"/>
            <a:ext cx="4297680" cy="3223260"/>
          </a:xfrm>
          <a:prstGeom prst="rect">
            <a:avLst/>
          </a:prstGeom>
          <a:ln w="10125">
            <a:solidFill>
              <a:srgbClr val="33333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4709160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Per-bot table, weighted checks and the fix for each failure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Beyond spec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Retrieval eval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3716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Spec-valid is not the same as useful. This measures whether the index can actually route a question.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8288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Writer LLM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sees crawled pages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487168" y="18288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8 questions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one per page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82880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07408" y="18288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Reader LLM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sees only llms.txt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828800"/>
            <a:ext cx="210312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27648" y="18288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Accuracy + ambiguous links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per-question verdict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214884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33088" y="214884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53328" y="2148840"/>
            <a:ext cx="27432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2697480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50" b="0">
                <a:solidFill>
                  <a:srgbClr val="F3F3F3"/>
                </a:solidFill>
                <a:latin typeface="Helvetica Neue Light"/>
              </a:rPr>
              <a:t>Ids, not URLs, cross the wire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58465"/>
            <a:ext cx="4663440" cy="289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Both calls exchange numbered link ids, so a hallucinated answer fails to resolve and is rejected instead of being silently scored as correct.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94075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50" b="0">
                <a:solidFill>
                  <a:srgbClr val="F3F3F3"/>
                </a:solidFill>
                <a:latin typeface="Helvetica Neue Light"/>
              </a:rPr>
              <a:t>Failures are actionable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5059"/>
            <a:ext cx="4663440" cy="289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Every miss names the link that was picked and why its notes did not disambiguate — that is the description to rewrite.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90669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50" b="0">
                <a:solidFill>
                  <a:srgbClr val="F3F3F3"/>
                </a:solidFill>
                <a:latin typeface="Helvetica Neue Light"/>
              </a:rPr>
              <a:t>Use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351654"/>
            <a:ext cx="4663440" cy="1446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 Light"/>
              </a:rPr>
              <a:t>Turns 'good llms.txt' from an opinion into a number you can regression-test.</a:t>
            </a:r>
          </a:p>
        </p:txBody>
      </p:sp>
      <p:pic>
        <p:nvPicPr>
          <p:cNvPr id="26" name="Picture 25" descr="retrieval-e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788920"/>
            <a:ext cx="2926080" cy="2194560"/>
          </a:xfrm>
          <a:prstGeom prst="rect">
            <a:avLst/>
          </a:prstGeom>
          <a:ln w="10125">
            <a:solidFill>
              <a:srgbClr val="333333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Technical trade-offs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14356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141732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F3F3F3"/>
                </a:solidFill>
                <a:latin typeface="Helvetica Neue Light"/>
              </a:rPr>
              <a:t>Slice crawling over one long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1721485"/>
            <a:ext cx="713232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More state to serialize and more round-trips, but the crawl never dies at the serverless timeout and progress is visible while it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2459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227707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F3F3F3"/>
                </a:solidFill>
                <a:latin typeface="Helvetica Neue Light"/>
              </a:rPr>
              <a:t>Heuristics first, LLM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" y="2531872"/>
            <a:ext cx="713232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The deterministic path always produces a valid file. The model only relabels pages it was handed, so it can never invent a URL; a missing key degrades quality, not correctness.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0563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3038094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F3F3F3"/>
                </a:solidFill>
                <a:latin typeface="Helvetica Neue Light"/>
              </a:rPr>
              <a:t>Hash diffing over full re-render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3342259"/>
            <a:ext cx="713232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Page-level hashes make 'nothing changed' cheap and let monitoring skip a write entirely; the cost is that formatting-only changes look identical.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86676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848481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50" b="0">
                <a:solidFill>
                  <a:srgbClr val="F3F3F3"/>
                </a:solidFill>
                <a:latin typeface="Helvetica Neue Light"/>
              </a:rPr>
              <a:t>Audit and eval opt-in, post-generation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9576" y="4152646"/>
            <a:ext cx="7132320" cy="323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Six bot probes and two LLM calls would double generation latency for every user, so they sit behind their own endpoints and a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Data model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600200"/>
            <a:ext cx="466344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1719072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1">
                <a:solidFill>
                  <a:srgbClr val="F5F5F0"/>
                </a:solidFill>
                <a:latin typeface="Helvetica Neue"/>
              </a:rPr>
              <a:t>sites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id · url · name · crawl options · monitoring · lastCheckedAt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86584"/>
            <a:ext cx="466344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505456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1">
                <a:solidFill>
                  <a:srgbClr val="F5F5F0"/>
                </a:solidFill>
                <a:latin typeface="Helvetica Neue"/>
              </a:rPr>
              <a:t>snapshots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id · siteId · llmsTxt · contentHash · pages · changes · 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72968"/>
            <a:ext cx="4663440" cy="64008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291839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1">
                <a:solidFill>
                  <a:srgbClr val="F5F5F0"/>
                </a:solidFill>
                <a:latin typeface="Helvetica Neue"/>
              </a:rPr>
              <a:t>jobs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id · crawl state · progress · result · status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1600200"/>
            <a:ext cx="2697480" cy="68580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60720" y="160020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Neon Postgres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DATABASE_URL, schema created on first 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514600"/>
            <a:ext cx="2697480" cy="68580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60720" y="251460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900" b="1">
                <a:solidFill>
                  <a:srgbClr val="F5F5F0"/>
                </a:solidFill>
                <a:latin typeface="Helvetica Neue"/>
              </a:rPr>
              <a:t>In-memory store</a:t>
            </a:r>
          </a:p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700" b="0">
                <a:solidFill>
                  <a:srgbClr val="C8C8C0"/>
                </a:solidFill>
                <a:latin typeface="Helvetica Neue Light"/>
              </a:rPr>
              <a:t>used when no DATABASE_URL is set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49240" y="1920240"/>
            <a:ext cx="41148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49240" y="2834640"/>
            <a:ext cx="411480" cy="0"/>
          </a:xfrm>
          <a:prstGeom prst="line">
            <a:avLst/>
          </a:prstGeom>
          <a:ln w="9525">
            <a:solidFill>
              <a:srgbClr val="3333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760720" y="3291840"/>
            <a:ext cx="2697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650" b="0">
                <a:solidFill>
                  <a:srgbClr val="C8C8C0"/>
                </a:solidFill>
                <a:latin typeface="Helvetica Neue Light"/>
              </a:rPr>
              <a:t>one Store interface, two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4164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50" b="0">
                <a:solidFill>
                  <a:srgbClr val="F3F3F3"/>
                </a:solidFill>
                <a:latin typeface="Helvetica Neue Light"/>
              </a:rPr>
              <a:t>Zero-config by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2633"/>
            <a:ext cx="7772400" cy="153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00" b="0">
                <a:solidFill>
                  <a:srgbClr val="888888"/>
                </a:solidFill>
                <a:latin typeface="Helvetica Neue Light"/>
              </a:rPr>
              <a:t>No database and no API key required: state lives in memory and heuristics cover titles, sections and descriptions.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Testing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554480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1755648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robots &amp; sitemap parsing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975104"/>
            <a:ext cx="3392424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User-agent groups, wildcards, $ anchors, crawl-delay, sitemap indexes, gzip, CDATA and plain-text sitemaps.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0016" y="1554480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01184" y="1755648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extraction &amp;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1184" y="1975104"/>
            <a:ext cx="3392424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Titles, descriptions from meta/OG/Twitter/JSON-LD, canonicals, markdown alternates, content hashing, URL normalization.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62656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6968" y="3163824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classification &amp;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383280"/>
            <a:ext cx="3392424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Page kinds and ranking order, sectioning and link budgets, and the rendered document layout.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0016" y="2962656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01184" y="3163824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50" b="0">
                <a:solidFill>
                  <a:srgbClr val="F3F3F3"/>
                </a:solidFill>
                <a:latin typeface="Helvetica Neue Light"/>
              </a:rPr>
              <a:t>validation, diffing &amp;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4" y="3383280"/>
            <a:ext cx="3392424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Spec errors and warnings, snapshot diffs, per-bot robots evaluation, audit scoring and grading.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7772400" cy="427482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0392" y="4379976"/>
            <a:ext cx="7443216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C8C8C0"/>
                </a:solidFill>
                <a:latin typeface="Roboto Mono"/>
              </a:rPr>
              <a:t>npm run test    # vitest    npm run lint    npm run typecheck    npm run build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Next steps &amp; optimizations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14813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146304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>
                <a:solidFill>
                  <a:srgbClr val="F3F3F3"/>
                </a:solidFill>
                <a:latin typeface="Helvetica Neue Light"/>
              </a:rPr>
              <a:t>Headless rendering for JS-only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1758696"/>
            <a:ext cx="713232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A client-rendered SPA extracts as empty; fall back to a browser on thin pages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139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121535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>
                <a:solidFill>
                  <a:srgbClr val="F3F3F3"/>
                </a:solidFill>
                <a:latin typeface="Helvetica Neue Light"/>
              </a:rPr>
              <a:t>Embeddings-based ranking and sectioning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" y="2417191"/>
            <a:ext cx="713232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Cluster page embeddings to name sections from content instead of URL paths.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79831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780029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>
                <a:solidFill>
                  <a:srgbClr val="F3F3F3"/>
                </a:solidFill>
                <a:latin typeface="Helvetica Neue Light"/>
              </a:rPr>
              <a:t>Incremental per-page recrawl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3075685"/>
            <a:ext cx="713232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ETag / If-Modified-Since plus per-page scheduling instead of re-crawling everything.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456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438524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>
                <a:solidFill>
                  <a:srgbClr val="F3F3F3"/>
                </a:solidFill>
                <a:latin typeface="Helvetica Neue Light"/>
              </a:rPr>
              <a:t>Event-driven refresh instead of a daily cron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9576" y="3734180"/>
            <a:ext cx="713232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Sitemap lastmod polling or a CMS/deploy webhook: minutes behind a publish, not hours.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1153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97019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>
                <a:solidFill>
                  <a:srgbClr val="F3F3F3"/>
                </a:solidFill>
                <a:latin typeface="Helvetica Neue Light"/>
              </a:rPr>
              <a:t>Multi-tenant dashboards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" y="4392676"/>
            <a:ext cx="7132320" cy="161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>
                <a:solidFill>
                  <a:srgbClr val="888888"/>
                </a:solidFill>
                <a:latin typeface="Helvetica Neue Light"/>
              </a:rPr>
              <a:t>Accounts, audit history and score trends — both metrics are better as a time series.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10312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915400" y="0"/>
            <a:ext cx="0" cy="5138928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292608"/>
            <a:ext cx="9144000" cy="0"/>
          </a:xfrm>
          <a:prstGeom prst="line">
            <a:avLst/>
          </a:prstGeom>
          <a:ln w="9525">
            <a:solidFill>
              <a:srgbClr val="3333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53035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850" b="0">
                <a:solidFill>
                  <a:srgbClr val="888888"/>
                </a:solidFill>
                <a:latin typeface="Helvetica Neue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58952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0">
                <a:solidFill>
                  <a:srgbClr val="F3F3F3"/>
                </a:solidFill>
                <a:latin typeface="Helvetica Neue Light"/>
              </a:rPr>
              <a:t>Talk is cheap. Show me the code.</a:t>
            </a:r>
          </a:p>
        </p:txBody>
      </p:sp>
      <p:pic>
        <p:nvPicPr>
          <p:cNvPr id="7" name="Picture 6" descr="profou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4636008"/>
            <a:ext cx="1225296" cy="3482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737360"/>
            <a:ext cx="7772400" cy="1371600"/>
          </a:xfrm>
          <a:prstGeom prst="roundRect">
            <a:avLst>
              <a:gd name="adj" fmla="val 6000"/>
            </a:avLst>
          </a:prstGeom>
          <a:solidFill>
            <a:srgbClr val="0F0F0F"/>
          </a:solidFill>
          <a:ln w="101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Live app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2000" b="0">
                <a:solidFill>
                  <a:srgbClr val="F5F5F0"/>
                </a:solidFill>
                <a:latin typeface="Roboto Mono"/>
              </a:rPr>
              <a:t>https://llms-txt-nela-taeb.vercel.app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1000" b="0">
                <a:solidFill>
                  <a:srgbClr val="888888"/>
                </a:solidFill>
                <a:latin typeface="Helvetica Neue Light"/>
              </a:rPr>
              <a:t>Paste any URL — try tryprofound.com, then run the audit and the retrieval eval.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F3F3F3"/>
                </a:solidFill>
                <a:latin typeface="Helvetica Neue Light"/>
              </a:rPr>
              <a:t>Nela Taeb — Profound technical interview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